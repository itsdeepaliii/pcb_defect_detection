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5"/>
  </p:notesMasterIdLst>
  <p:sldIdLst>
    <p:sldId id="256" r:id="rId2"/>
    <p:sldId id="300" r:id="rId3"/>
    <p:sldId id="261" r:id="rId4"/>
    <p:sldId id="304" r:id="rId5"/>
    <p:sldId id="305" r:id="rId6"/>
    <p:sldId id="306" r:id="rId7"/>
    <p:sldId id="310" r:id="rId8"/>
    <p:sldId id="311" r:id="rId9"/>
    <p:sldId id="312" r:id="rId10"/>
    <p:sldId id="308" r:id="rId11"/>
    <p:sldId id="309" r:id="rId12"/>
    <p:sldId id="313" r:id="rId13"/>
    <p:sldId id="262" r:id="rId14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Candara" panose="020E0502030303020204" pitchFamily="34" charset="0"/>
      <p:regular r:id="rId17"/>
      <p:bold r:id="rId18"/>
      <p:italic r:id="rId19"/>
      <p:boldItalic r:id="rId20"/>
    </p:embeddedFont>
    <p:embeddedFont>
      <p:font typeface="Paytone One" panose="020B0604020202020204" charset="0"/>
      <p:regular r:id="rId21"/>
    </p:embeddedFont>
    <p:embeddedFont>
      <p:font typeface="Questrial" pitchFamily="2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113F83-392F-4EC2-BFA0-0E447605CF77}" v="6" dt="2026-03-04T00:34:38.892"/>
  </p1510:revLst>
</p1510:revInfo>
</file>

<file path=ppt/tableStyles.xml><?xml version="1.0" encoding="utf-8"?>
<a:tblStyleLst xmlns:a="http://schemas.openxmlformats.org/drawingml/2006/main" def="{EF7B4017-6996-4651-B3C1-450320E8FF8A}">
  <a:tblStyle styleId="{EF7B4017-6996-4651-B3C1-450320E8F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li singh" userId="001aa553bb7e6dfb" providerId="LiveId" clId="{EA840218-E405-466E-BA57-9483A2C070AF}"/>
    <pc:docChg chg="undo custSel modSld sldOrd">
      <pc:chgData name="deepali singh" userId="001aa553bb7e6dfb" providerId="LiveId" clId="{EA840218-E405-466E-BA57-9483A2C070AF}" dt="2026-03-04T00:38:02.115" v="258" actId="2711"/>
      <pc:docMkLst>
        <pc:docMk/>
      </pc:docMkLst>
      <pc:sldChg chg="modSp mod">
        <pc:chgData name="deepali singh" userId="001aa553bb7e6dfb" providerId="LiveId" clId="{EA840218-E405-466E-BA57-9483A2C070AF}" dt="2026-03-04T00:33:44.250" v="166" actId="255"/>
        <pc:sldMkLst>
          <pc:docMk/>
          <pc:sldMk cId="0" sldId="261"/>
        </pc:sldMkLst>
        <pc:spChg chg="mod">
          <ac:chgData name="deepali singh" userId="001aa553bb7e6dfb" providerId="LiveId" clId="{EA840218-E405-466E-BA57-9483A2C070AF}" dt="2026-03-04T00:33:44.250" v="166" actId="255"/>
          <ac:spMkLst>
            <pc:docMk/>
            <pc:sldMk cId="0" sldId="261"/>
            <ac:spMk id="3" creationId="{8AD52C31-AE83-24F6-2CBE-33B5006A7553}"/>
          </ac:spMkLst>
        </pc:spChg>
        <pc:spChg chg="mod">
          <ac:chgData name="deepali singh" userId="001aa553bb7e6dfb" providerId="LiveId" clId="{EA840218-E405-466E-BA57-9483A2C070AF}" dt="2026-03-04T00:32:30.608" v="157" actId="1076"/>
          <ac:spMkLst>
            <pc:docMk/>
            <pc:sldMk cId="0" sldId="261"/>
            <ac:spMk id="1030" creationId="{00000000-0000-0000-0000-000000000000}"/>
          </ac:spMkLst>
        </pc:spChg>
      </pc:sldChg>
      <pc:sldChg chg="modSp mod">
        <pc:chgData name="deepali singh" userId="001aa553bb7e6dfb" providerId="LiveId" clId="{EA840218-E405-466E-BA57-9483A2C070AF}" dt="2026-03-04T00:36:30.214" v="227" actId="20577"/>
        <pc:sldMkLst>
          <pc:docMk/>
          <pc:sldMk cId="0" sldId="262"/>
        </pc:sldMkLst>
        <pc:spChg chg="mod">
          <ac:chgData name="deepali singh" userId="001aa553bb7e6dfb" providerId="LiveId" clId="{EA840218-E405-466E-BA57-9483A2C070AF}" dt="2026-03-04T00:36:30.214" v="227" actId="20577"/>
          <ac:spMkLst>
            <pc:docMk/>
            <pc:sldMk cId="0" sldId="262"/>
            <ac:spMk id="1036" creationId="{00000000-0000-0000-0000-000000000000}"/>
          </ac:spMkLst>
        </pc:spChg>
      </pc:sldChg>
      <pc:sldChg chg="modSp mod">
        <pc:chgData name="deepali singh" userId="001aa553bb7e6dfb" providerId="LiveId" clId="{EA840218-E405-466E-BA57-9483A2C070AF}" dt="2026-03-04T00:33:15.450" v="165" actId="255"/>
        <pc:sldMkLst>
          <pc:docMk/>
          <pc:sldMk cId="3564299958" sldId="300"/>
        </pc:sldMkLst>
        <pc:spChg chg="mod">
          <ac:chgData name="deepali singh" userId="001aa553bb7e6dfb" providerId="LiveId" clId="{EA840218-E405-466E-BA57-9483A2C070AF}" dt="2026-03-04T00:33:15.450" v="165" actId="255"/>
          <ac:spMkLst>
            <pc:docMk/>
            <pc:sldMk cId="3564299958" sldId="300"/>
            <ac:spMk id="6" creationId="{197506BB-1C44-414B-74BD-0E7186F22B63}"/>
          </ac:spMkLst>
        </pc:spChg>
      </pc:sldChg>
      <pc:sldChg chg="modSp mod">
        <pc:chgData name="deepali singh" userId="001aa553bb7e6dfb" providerId="LiveId" clId="{EA840218-E405-466E-BA57-9483A2C070AF}" dt="2026-03-04T00:31:40.190" v="147" actId="1076"/>
        <pc:sldMkLst>
          <pc:docMk/>
          <pc:sldMk cId="1567711998" sldId="304"/>
        </pc:sldMkLst>
        <pc:spChg chg="mod">
          <ac:chgData name="deepali singh" userId="001aa553bb7e6dfb" providerId="LiveId" clId="{EA840218-E405-466E-BA57-9483A2C070AF}" dt="2026-03-04T00:31:40.190" v="147" actId="1076"/>
          <ac:spMkLst>
            <pc:docMk/>
            <pc:sldMk cId="1567711998" sldId="304"/>
            <ac:spMk id="4" creationId="{C321F5B7-FF2B-1D52-F012-3B377EA734AA}"/>
          </ac:spMkLst>
        </pc:spChg>
        <pc:spChg chg="mod">
          <ac:chgData name="deepali singh" userId="001aa553bb7e6dfb" providerId="LiveId" clId="{EA840218-E405-466E-BA57-9483A2C070AF}" dt="2026-03-04T00:31:06.554" v="135" actId="12"/>
          <ac:spMkLst>
            <pc:docMk/>
            <pc:sldMk cId="1567711998" sldId="304"/>
            <ac:spMk id="6" creationId="{475F6640-8FE8-3CF4-DBA2-F8BFA44ECC14}"/>
          </ac:spMkLst>
        </pc:spChg>
      </pc:sldChg>
      <pc:sldChg chg="modSp mod">
        <pc:chgData name="deepali singh" userId="001aa553bb7e6dfb" providerId="LiveId" clId="{EA840218-E405-466E-BA57-9483A2C070AF}" dt="2026-03-04T00:34:20.828" v="173" actId="255"/>
        <pc:sldMkLst>
          <pc:docMk/>
          <pc:sldMk cId="4276037591" sldId="305"/>
        </pc:sldMkLst>
        <pc:spChg chg="mod">
          <ac:chgData name="deepali singh" userId="001aa553bb7e6dfb" providerId="LiveId" clId="{EA840218-E405-466E-BA57-9483A2C070AF}" dt="2026-03-04T00:34:20.828" v="173" actId="255"/>
          <ac:spMkLst>
            <pc:docMk/>
            <pc:sldMk cId="4276037591" sldId="305"/>
            <ac:spMk id="4" creationId="{4F7EE4BE-735B-0AFE-5F71-C8502DFAD85E}"/>
          </ac:spMkLst>
        </pc:spChg>
        <pc:spChg chg="mod">
          <ac:chgData name="deepali singh" userId="001aa553bb7e6dfb" providerId="LiveId" clId="{EA840218-E405-466E-BA57-9483A2C070AF}" dt="2026-03-04T00:34:16.071" v="172" actId="255"/>
          <ac:spMkLst>
            <pc:docMk/>
            <pc:sldMk cId="4276037591" sldId="305"/>
            <ac:spMk id="8" creationId="{8ED1AA6F-6B31-C336-4976-AACCE26D55F4}"/>
          </ac:spMkLst>
        </pc:spChg>
      </pc:sldChg>
      <pc:sldChg chg="modSp mod">
        <pc:chgData name="deepali singh" userId="001aa553bb7e6dfb" providerId="LiveId" clId="{EA840218-E405-466E-BA57-9483A2C070AF}" dt="2026-03-04T00:34:26.716" v="176" actId="20577"/>
        <pc:sldMkLst>
          <pc:docMk/>
          <pc:sldMk cId="3601324103" sldId="306"/>
        </pc:sldMkLst>
        <pc:spChg chg="mod">
          <ac:chgData name="deepali singh" userId="001aa553bb7e6dfb" providerId="LiveId" clId="{EA840218-E405-466E-BA57-9483A2C070AF}" dt="2026-03-04T00:34:26.716" v="176" actId="20577"/>
          <ac:spMkLst>
            <pc:docMk/>
            <pc:sldMk cId="3601324103" sldId="306"/>
            <ac:spMk id="6" creationId="{E86545C1-5B3E-F57F-5005-69AB915B06AA}"/>
          </ac:spMkLst>
        </pc:spChg>
        <pc:spChg chg="mod">
          <ac:chgData name="deepali singh" userId="001aa553bb7e6dfb" providerId="LiveId" clId="{EA840218-E405-466E-BA57-9483A2C070AF}" dt="2026-03-04T00:27:31.881" v="80" actId="1076"/>
          <ac:spMkLst>
            <pc:docMk/>
            <pc:sldMk cId="3601324103" sldId="306"/>
            <ac:spMk id="8" creationId="{C143F40E-BF46-E536-D65F-5FFC3A8F322B}"/>
          </ac:spMkLst>
        </pc:spChg>
      </pc:sldChg>
      <pc:sldChg chg="modSp mod ord">
        <pc:chgData name="deepali singh" userId="001aa553bb7e6dfb" providerId="LiveId" clId="{EA840218-E405-466E-BA57-9483A2C070AF}" dt="2026-03-04T00:26:29.199" v="66" actId="20577"/>
        <pc:sldMkLst>
          <pc:docMk/>
          <pc:sldMk cId="2068103236" sldId="308"/>
        </pc:sldMkLst>
        <pc:spChg chg="mod">
          <ac:chgData name="deepali singh" userId="001aa553bb7e6dfb" providerId="LiveId" clId="{EA840218-E405-466E-BA57-9483A2C070AF}" dt="2026-03-04T00:26:29.199" v="66" actId="20577"/>
          <ac:spMkLst>
            <pc:docMk/>
            <pc:sldMk cId="2068103236" sldId="308"/>
            <ac:spMk id="4" creationId="{1C746E22-CA38-27ED-2F24-E03576E2C22D}"/>
          </ac:spMkLst>
        </pc:spChg>
      </pc:sldChg>
      <pc:sldChg chg="modSp mod">
        <pc:chgData name="deepali singh" userId="001aa553bb7e6dfb" providerId="LiveId" clId="{EA840218-E405-466E-BA57-9483A2C070AF}" dt="2026-03-04T00:37:47.658" v="257" actId="1076"/>
        <pc:sldMkLst>
          <pc:docMk/>
          <pc:sldMk cId="1003794649" sldId="309"/>
        </pc:sldMkLst>
        <pc:spChg chg="mod">
          <ac:chgData name="deepali singh" userId="001aa553bb7e6dfb" providerId="LiveId" clId="{EA840218-E405-466E-BA57-9483A2C070AF}" dt="2026-03-04T00:37:47.658" v="257" actId="1076"/>
          <ac:spMkLst>
            <pc:docMk/>
            <pc:sldMk cId="1003794649" sldId="309"/>
            <ac:spMk id="2" creationId="{39DC5FDA-2FB5-FC44-6543-3BBF183CE790}"/>
          </ac:spMkLst>
        </pc:spChg>
        <pc:spChg chg="mod">
          <ac:chgData name="deepali singh" userId="001aa553bb7e6dfb" providerId="LiveId" clId="{EA840218-E405-466E-BA57-9483A2C070AF}" dt="2026-03-04T00:37:29.447" v="254" actId="1076"/>
          <ac:spMkLst>
            <pc:docMk/>
            <pc:sldMk cId="1003794649" sldId="309"/>
            <ac:spMk id="4" creationId="{FBD160D8-9F27-DAB6-0547-AA22677F0B3F}"/>
          </ac:spMkLst>
        </pc:spChg>
        <pc:spChg chg="mod">
          <ac:chgData name="deepali singh" userId="001aa553bb7e6dfb" providerId="LiveId" clId="{EA840218-E405-466E-BA57-9483A2C070AF}" dt="2026-03-04T00:37:13.119" v="252" actId="20577"/>
          <ac:spMkLst>
            <pc:docMk/>
            <pc:sldMk cId="1003794649" sldId="309"/>
            <ac:spMk id="6" creationId="{FC0C4D71-4600-8060-0B57-362DBB5F0666}"/>
          </ac:spMkLst>
        </pc:spChg>
      </pc:sldChg>
      <pc:sldChg chg="modSp mod">
        <pc:chgData name="deepali singh" userId="001aa553bb7e6dfb" providerId="LiveId" clId="{EA840218-E405-466E-BA57-9483A2C070AF}" dt="2026-03-04T00:38:02.115" v="258" actId="2711"/>
        <pc:sldMkLst>
          <pc:docMk/>
          <pc:sldMk cId="3016696050" sldId="310"/>
        </pc:sldMkLst>
        <pc:spChg chg="mod">
          <ac:chgData name="deepali singh" userId="001aa553bb7e6dfb" providerId="LiveId" clId="{EA840218-E405-466E-BA57-9483A2C070AF}" dt="2026-03-04T00:38:02.115" v="258" actId="2711"/>
          <ac:spMkLst>
            <pc:docMk/>
            <pc:sldMk cId="3016696050" sldId="310"/>
            <ac:spMk id="4" creationId="{19BAAD45-E1BA-24E7-BECB-406372D2ADAF}"/>
          </ac:spMkLst>
        </pc:spChg>
      </pc:sldChg>
      <pc:sldChg chg="modSp mod">
        <pc:chgData name="deepali singh" userId="001aa553bb7e6dfb" providerId="LiveId" clId="{EA840218-E405-466E-BA57-9483A2C070AF}" dt="2026-03-04T00:35:46.290" v="201" actId="1076"/>
        <pc:sldMkLst>
          <pc:docMk/>
          <pc:sldMk cId="2881478291" sldId="311"/>
        </pc:sldMkLst>
        <pc:spChg chg="mod">
          <ac:chgData name="deepali singh" userId="001aa553bb7e6dfb" providerId="LiveId" clId="{EA840218-E405-466E-BA57-9483A2C070AF}" dt="2026-03-04T00:35:46.290" v="201" actId="1076"/>
          <ac:spMkLst>
            <pc:docMk/>
            <pc:sldMk cId="2881478291" sldId="311"/>
            <ac:spMk id="6" creationId="{A20EC9C0-9663-F72B-255A-4151E0DB3FB7}"/>
          </ac:spMkLst>
        </pc:spChg>
      </pc:sldChg>
      <pc:sldChg chg="modSp mod">
        <pc:chgData name="deepali singh" userId="001aa553bb7e6dfb" providerId="LiveId" clId="{EA840218-E405-466E-BA57-9483A2C070AF}" dt="2026-03-04T00:24:48.470" v="41" actId="20577"/>
        <pc:sldMkLst>
          <pc:docMk/>
          <pc:sldMk cId="998076707" sldId="312"/>
        </pc:sldMkLst>
        <pc:spChg chg="mod">
          <ac:chgData name="deepali singh" userId="001aa553bb7e6dfb" providerId="LiveId" clId="{EA840218-E405-466E-BA57-9483A2C070AF}" dt="2026-03-04T00:24:48.470" v="41" actId="20577"/>
          <ac:spMkLst>
            <pc:docMk/>
            <pc:sldMk cId="998076707" sldId="312"/>
            <ac:spMk id="8" creationId="{6B64E79E-5E46-30FF-BBE5-1C7B1D1E4E44}"/>
          </ac:spMkLst>
        </pc:spChg>
      </pc:sldChg>
      <pc:sldChg chg="modSp mod">
        <pc:chgData name="deepali singh" userId="001aa553bb7e6dfb" providerId="LiveId" clId="{EA840218-E405-466E-BA57-9483A2C070AF}" dt="2026-03-04T00:36:18.075" v="206" actId="255"/>
        <pc:sldMkLst>
          <pc:docMk/>
          <pc:sldMk cId="3887782215" sldId="313"/>
        </pc:sldMkLst>
        <pc:spChg chg="mod">
          <ac:chgData name="deepali singh" userId="001aa553bb7e6dfb" providerId="LiveId" clId="{EA840218-E405-466E-BA57-9483A2C070AF}" dt="2026-03-04T00:36:18.075" v="206" actId="255"/>
          <ac:spMkLst>
            <pc:docMk/>
            <pc:sldMk cId="3887782215" sldId="313"/>
            <ac:spMk id="2" creationId="{7F3759A4-3336-218B-8E11-15EA27AD0AD9}"/>
          </ac:spMkLst>
        </pc:spChg>
        <pc:spChg chg="mod">
          <ac:chgData name="deepali singh" userId="001aa553bb7e6dfb" providerId="LiveId" clId="{EA840218-E405-466E-BA57-9483A2C070AF}" dt="2026-03-04T00:36:07.946" v="205" actId="255"/>
          <ac:spMkLst>
            <pc:docMk/>
            <pc:sldMk cId="3887782215" sldId="313"/>
            <ac:spMk id="4" creationId="{5D774650-686A-E5F8-79C7-FADEE74A34F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80" name="Google Shape;9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b8ad8aa3d3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28" name="Google Shape;1028;gb8ad8aa3d3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b924c6c1c1_1_1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34" name="Google Shape;1034;gb924c6c1c1_1_15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1900" y="1386639"/>
            <a:ext cx="61962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1900" y="3294939"/>
            <a:ext cx="6196200" cy="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3165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6725761" y="1349068"/>
            <a:ext cx="1173854" cy="2461458"/>
            <a:chOff x="6725761" y="1349068"/>
            <a:chExt cx="1173854" cy="2461458"/>
          </a:xfrm>
        </p:grpSpPr>
        <p:grpSp>
          <p:nvGrpSpPr>
            <p:cNvPr id="13" name="Google Shape;13;p2"/>
            <p:cNvGrpSpPr/>
            <p:nvPr/>
          </p:nvGrpSpPr>
          <p:grpSpPr>
            <a:xfrm rot="-5400000">
              <a:off x="6747803" y="1327027"/>
              <a:ext cx="1129770" cy="1173854"/>
              <a:chOff x="11" y="583339"/>
              <a:chExt cx="1129770" cy="1173854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9686" y="583339"/>
                <a:ext cx="51388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604" h="1649" extrusionOk="0">
                    <a:moveTo>
                      <a:pt x="802" y="0"/>
                    </a:moveTo>
                    <a:cubicBezTo>
                      <a:pt x="364" y="15"/>
                      <a:pt x="1" y="378"/>
                      <a:pt x="16" y="832"/>
                    </a:cubicBezTo>
                    <a:cubicBezTo>
                      <a:pt x="1" y="1270"/>
                      <a:pt x="364" y="1633"/>
                      <a:pt x="802" y="1648"/>
                    </a:cubicBezTo>
                    <a:cubicBezTo>
                      <a:pt x="1256" y="1633"/>
                      <a:pt x="1604" y="1270"/>
                      <a:pt x="1589" y="832"/>
                    </a:cubicBezTo>
                    <a:cubicBezTo>
                      <a:pt x="1604" y="378"/>
                      <a:pt x="1256" y="15"/>
                      <a:pt x="8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77103" y="584524"/>
                <a:ext cx="50908" cy="50555"/>
              </a:xfrm>
              <a:custGeom>
                <a:avLst/>
                <a:gdLst/>
                <a:ahLst/>
                <a:cxnLst/>
                <a:rect l="l" t="t" r="r" b="b"/>
                <a:pathLst>
                  <a:path w="1589" h="1578" extrusionOk="0">
                    <a:moveTo>
                      <a:pt x="795" y="1"/>
                    </a:moveTo>
                    <a:cubicBezTo>
                      <a:pt x="398" y="1"/>
                      <a:pt x="1" y="265"/>
                      <a:pt x="1" y="795"/>
                    </a:cubicBezTo>
                    <a:cubicBezTo>
                      <a:pt x="1" y="1316"/>
                      <a:pt x="398" y="1577"/>
                      <a:pt x="795" y="1577"/>
                    </a:cubicBezTo>
                    <a:cubicBezTo>
                      <a:pt x="1192" y="1577"/>
                      <a:pt x="1589" y="1316"/>
                      <a:pt x="1589" y="795"/>
                    </a:cubicBezTo>
                    <a:cubicBezTo>
                      <a:pt x="1589" y="265"/>
                      <a:pt x="1192" y="1"/>
                      <a:pt x="7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543559" y="583435"/>
                <a:ext cx="52349" cy="52734"/>
              </a:xfrm>
              <a:custGeom>
                <a:avLst/>
                <a:gdLst/>
                <a:ahLst/>
                <a:cxnLst/>
                <a:rect l="l" t="t" r="r" b="b"/>
                <a:pathLst>
                  <a:path w="1634" h="1646" extrusionOk="0">
                    <a:moveTo>
                      <a:pt x="817" y="1"/>
                    </a:moveTo>
                    <a:cubicBezTo>
                      <a:pt x="409" y="1"/>
                      <a:pt x="1" y="277"/>
                      <a:pt x="31" y="829"/>
                    </a:cubicBezTo>
                    <a:cubicBezTo>
                      <a:pt x="1" y="1267"/>
                      <a:pt x="364" y="1645"/>
                      <a:pt x="817" y="1645"/>
                    </a:cubicBezTo>
                    <a:cubicBezTo>
                      <a:pt x="1271" y="1645"/>
                      <a:pt x="1619" y="1267"/>
                      <a:pt x="1604" y="829"/>
                    </a:cubicBezTo>
                    <a:cubicBezTo>
                      <a:pt x="1634" y="277"/>
                      <a:pt x="1226" y="1"/>
                      <a:pt x="8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810752" y="583435"/>
                <a:ext cx="52093" cy="52734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1646" extrusionOk="0">
                    <a:moveTo>
                      <a:pt x="815" y="1"/>
                    </a:moveTo>
                    <a:cubicBezTo>
                      <a:pt x="408" y="1"/>
                      <a:pt x="0" y="277"/>
                      <a:pt x="23" y="829"/>
                    </a:cubicBezTo>
                    <a:cubicBezTo>
                      <a:pt x="8" y="1267"/>
                      <a:pt x="371" y="1645"/>
                      <a:pt x="809" y="1645"/>
                    </a:cubicBezTo>
                    <a:cubicBezTo>
                      <a:pt x="1263" y="1645"/>
                      <a:pt x="1626" y="1267"/>
                      <a:pt x="1596" y="829"/>
                    </a:cubicBezTo>
                    <a:cubicBezTo>
                      <a:pt x="1626" y="277"/>
                      <a:pt x="1221" y="1"/>
                      <a:pt x="8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078874" y="584524"/>
                <a:ext cx="50427" cy="50555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1578" extrusionOk="0">
                    <a:moveTo>
                      <a:pt x="787" y="1"/>
                    </a:moveTo>
                    <a:cubicBezTo>
                      <a:pt x="394" y="1"/>
                      <a:pt x="1" y="265"/>
                      <a:pt x="1" y="795"/>
                    </a:cubicBezTo>
                    <a:cubicBezTo>
                      <a:pt x="1" y="1316"/>
                      <a:pt x="394" y="1577"/>
                      <a:pt x="787" y="1577"/>
                    </a:cubicBezTo>
                    <a:cubicBezTo>
                      <a:pt x="1180" y="1577"/>
                      <a:pt x="1574" y="1316"/>
                      <a:pt x="1574" y="795"/>
                    </a:cubicBezTo>
                    <a:cubicBezTo>
                      <a:pt x="1574" y="265"/>
                      <a:pt x="1180" y="1"/>
                      <a:pt x="7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933" y="863347"/>
                <a:ext cx="59141" cy="5331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664" extrusionOk="0">
                    <a:moveTo>
                      <a:pt x="1044" y="0"/>
                    </a:moveTo>
                    <a:cubicBezTo>
                      <a:pt x="1" y="61"/>
                      <a:pt x="1" y="1603"/>
                      <a:pt x="1044" y="1663"/>
                    </a:cubicBezTo>
                    <a:cubicBezTo>
                      <a:pt x="1483" y="1648"/>
                      <a:pt x="1846" y="1270"/>
                      <a:pt x="1831" y="832"/>
                    </a:cubicBezTo>
                    <a:cubicBezTo>
                      <a:pt x="1846" y="393"/>
                      <a:pt x="1498" y="15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68870" y="863827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0"/>
                    </a:moveTo>
                    <a:cubicBezTo>
                      <a:pt x="364" y="0"/>
                      <a:pt x="1" y="817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2" y="1574"/>
                      <a:pt x="1816" y="1279"/>
                      <a:pt x="1846" y="817"/>
                    </a:cubicBezTo>
                    <a:cubicBezTo>
                      <a:pt x="1846" y="378"/>
                      <a:pt x="1498" y="0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36287" y="863827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17"/>
                      <a:pt x="470" y="1331"/>
                    </a:cubicBezTo>
                    <a:cubicBezTo>
                      <a:pt x="632" y="1499"/>
                      <a:pt x="836" y="1574"/>
                      <a:pt x="1035" y="1574"/>
                    </a:cubicBezTo>
                    <a:cubicBezTo>
                      <a:pt x="1430" y="1574"/>
                      <a:pt x="1811" y="1279"/>
                      <a:pt x="1831" y="817"/>
                    </a:cubicBezTo>
                    <a:cubicBezTo>
                      <a:pt x="1846" y="378"/>
                      <a:pt x="1483" y="0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03383" y="863827"/>
                <a:ext cx="5898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1" h="1575" extrusionOk="0">
                    <a:moveTo>
                      <a:pt x="1021" y="0"/>
                    </a:moveTo>
                    <a:cubicBezTo>
                      <a:pt x="352" y="0"/>
                      <a:pt x="0" y="821"/>
                      <a:pt x="480" y="1331"/>
                    </a:cubicBezTo>
                    <a:cubicBezTo>
                      <a:pt x="637" y="1499"/>
                      <a:pt x="837" y="1574"/>
                      <a:pt x="1035" y="1574"/>
                    </a:cubicBezTo>
                    <a:cubicBezTo>
                      <a:pt x="1425" y="1574"/>
                      <a:pt x="1805" y="1279"/>
                      <a:pt x="1826" y="817"/>
                    </a:cubicBezTo>
                    <a:cubicBezTo>
                      <a:pt x="1841" y="378"/>
                      <a:pt x="1493" y="0"/>
                      <a:pt x="1039" y="0"/>
                    </a:cubicBezTo>
                    <a:cubicBezTo>
                      <a:pt x="1033" y="0"/>
                      <a:pt x="1027" y="0"/>
                      <a:pt x="10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070160" y="863827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0"/>
                    </a:moveTo>
                    <a:cubicBezTo>
                      <a:pt x="364" y="0"/>
                      <a:pt x="1" y="817"/>
                      <a:pt x="485" y="1331"/>
                    </a:cubicBezTo>
                    <a:cubicBezTo>
                      <a:pt x="647" y="1499"/>
                      <a:pt x="851" y="1574"/>
                      <a:pt x="1050" y="1574"/>
                    </a:cubicBezTo>
                    <a:cubicBezTo>
                      <a:pt x="1445" y="1574"/>
                      <a:pt x="1825" y="1279"/>
                      <a:pt x="1846" y="817"/>
                    </a:cubicBezTo>
                    <a:cubicBezTo>
                      <a:pt x="1861" y="378"/>
                      <a:pt x="1498" y="0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1" y="1143835"/>
                <a:ext cx="61063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49" extrusionOk="0">
                    <a:moveTo>
                      <a:pt x="1104" y="0"/>
                    </a:moveTo>
                    <a:cubicBezTo>
                      <a:pt x="0" y="0"/>
                      <a:pt x="0" y="1649"/>
                      <a:pt x="1104" y="1649"/>
                    </a:cubicBezTo>
                    <a:cubicBezTo>
                      <a:pt x="1558" y="1634"/>
                      <a:pt x="1906" y="1271"/>
                      <a:pt x="1891" y="832"/>
                    </a:cubicBezTo>
                    <a:cubicBezTo>
                      <a:pt x="1906" y="378"/>
                      <a:pt x="1558" y="16"/>
                      <a:pt x="11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68870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0"/>
                    </a:moveTo>
                    <a:cubicBezTo>
                      <a:pt x="364" y="0"/>
                      <a:pt x="1" y="832"/>
                      <a:pt x="485" y="1331"/>
                    </a:cubicBezTo>
                    <a:cubicBezTo>
                      <a:pt x="648" y="1499"/>
                      <a:pt x="852" y="1575"/>
                      <a:pt x="1053" y="1575"/>
                    </a:cubicBezTo>
                    <a:cubicBezTo>
                      <a:pt x="1447" y="1575"/>
                      <a:pt x="1826" y="1283"/>
                      <a:pt x="1846" y="832"/>
                    </a:cubicBezTo>
                    <a:cubicBezTo>
                      <a:pt x="1846" y="378"/>
                      <a:pt x="1498" y="16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536287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32"/>
                      <a:pt x="470" y="1331"/>
                    </a:cubicBezTo>
                    <a:cubicBezTo>
                      <a:pt x="633" y="1499"/>
                      <a:pt x="837" y="1575"/>
                      <a:pt x="1038" y="1575"/>
                    </a:cubicBezTo>
                    <a:cubicBezTo>
                      <a:pt x="1432" y="1575"/>
                      <a:pt x="1811" y="1283"/>
                      <a:pt x="1831" y="832"/>
                    </a:cubicBezTo>
                    <a:cubicBezTo>
                      <a:pt x="1846" y="378"/>
                      <a:pt x="1483" y="16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03223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32"/>
                      <a:pt x="485" y="1331"/>
                    </a:cubicBezTo>
                    <a:cubicBezTo>
                      <a:pt x="643" y="1499"/>
                      <a:pt x="844" y="1575"/>
                      <a:pt x="1042" y="1575"/>
                    </a:cubicBezTo>
                    <a:cubicBezTo>
                      <a:pt x="1432" y="1575"/>
                      <a:pt x="1810" y="1283"/>
                      <a:pt x="1831" y="832"/>
                    </a:cubicBezTo>
                    <a:cubicBezTo>
                      <a:pt x="1846" y="378"/>
                      <a:pt x="1498" y="16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070160" y="1143835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0"/>
                    </a:moveTo>
                    <a:cubicBezTo>
                      <a:pt x="364" y="0"/>
                      <a:pt x="1" y="832"/>
                      <a:pt x="485" y="1331"/>
                    </a:cubicBezTo>
                    <a:cubicBezTo>
                      <a:pt x="648" y="1499"/>
                      <a:pt x="852" y="1575"/>
                      <a:pt x="1053" y="1575"/>
                    </a:cubicBezTo>
                    <a:cubicBezTo>
                      <a:pt x="1447" y="1575"/>
                      <a:pt x="1825" y="1283"/>
                      <a:pt x="1846" y="832"/>
                    </a:cubicBezTo>
                    <a:cubicBezTo>
                      <a:pt x="1861" y="378"/>
                      <a:pt x="1498" y="16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933" y="1424323"/>
                <a:ext cx="59141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649" extrusionOk="0">
                    <a:moveTo>
                      <a:pt x="1044" y="1"/>
                    </a:moveTo>
                    <a:cubicBezTo>
                      <a:pt x="1" y="46"/>
                      <a:pt x="1" y="1588"/>
                      <a:pt x="1044" y="1649"/>
                    </a:cubicBezTo>
                    <a:cubicBezTo>
                      <a:pt x="1498" y="1634"/>
                      <a:pt x="1846" y="1271"/>
                      <a:pt x="1831" y="817"/>
                    </a:cubicBezTo>
                    <a:cubicBezTo>
                      <a:pt x="1846" y="379"/>
                      <a:pt x="1498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268870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1"/>
                    </a:moveTo>
                    <a:cubicBezTo>
                      <a:pt x="364" y="1"/>
                      <a:pt x="1" y="832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2" y="1574"/>
                      <a:pt x="1816" y="1279"/>
                      <a:pt x="1846" y="817"/>
                    </a:cubicBezTo>
                    <a:cubicBezTo>
                      <a:pt x="1846" y="379"/>
                      <a:pt x="1498" y="1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36287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1"/>
                    </a:moveTo>
                    <a:cubicBezTo>
                      <a:pt x="349" y="1"/>
                      <a:pt x="1" y="832"/>
                      <a:pt x="470" y="1331"/>
                    </a:cubicBezTo>
                    <a:cubicBezTo>
                      <a:pt x="632" y="1499"/>
                      <a:pt x="836" y="1574"/>
                      <a:pt x="1035" y="1574"/>
                    </a:cubicBezTo>
                    <a:cubicBezTo>
                      <a:pt x="1430" y="1574"/>
                      <a:pt x="1811" y="1279"/>
                      <a:pt x="1831" y="817"/>
                    </a:cubicBezTo>
                    <a:cubicBezTo>
                      <a:pt x="1846" y="379"/>
                      <a:pt x="1483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803223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1"/>
                    </a:moveTo>
                    <a:cubicBezTo>
                      <a:pt x="364" y="1"/>
                      <a:pt x="1" y="817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0" y="1574"/>
                      <a:pt x="1810" y="1279"/>
                      <a:pt x="1831" y="817"/>
                    </a:cubicBezTo>
                    <a:cubicBezTo>
                      <a:pt x="1846" y="379"/>
                      <a:pt x="1498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070160" y="1424323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1"/>
                    </a:moveTo>
                    <a:cubicBezTo>
                      <a:pt x="364" y="1"/>
                      <a:pt x="1" y="832"/>
                      <a:pt x="485" y="1331"/>
                    </a:cubicBezTo>
                    <a:cubicBezTo>
                      <a:pt x="647" y="1499"/>
                      <a:pt x="851" y="1574"/>
                      <a:pt x="1050" y="1574"/>
                    </a:cubicBezTo>
                    <a:cubicBezTo>
                      <a:pt x="1445" y="1574"/>
                      <a:pt x="1825" y="1279"/>
                      <a:pt x="1846" y="817"/>
                    </a:cubicBezTo>
                    <a:cubicBezTo>
                      <a:pt x="1861" y="379"/>
                      <a:pt x="1498" y="1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1" y="1704331"/>
                <a:ext cx="61063" cy="52862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50" extrusionOk="0">
                    <a:moveTo>
                      <a:pt x="1104" y="1"/>
                    </a:moveTo>
                    <a:cubicBezTo>
                      <a:pt x="0" y="1"/>
                      <a:pt x="0" y="1649"/>
                      <a:pt x="1104" y="1649"/>
                    </a:cubicBezTo>
                    <a:cubicBezTo>
                      <a:pt x="1558" y="1649"/>
                      <a:pt x="1906" y="1271"/>
                      <a:pt x="1891" y="833"/>
                    </a:cubicBezTo>
                    <a:cubicBezTo>
                      <a:pt x="1906" y="379"/>
                      <a:pt x="1558" y="16"/>
                      <a:pt x="110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68870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59" y="1"/>
                    </a:moveTo>
                    <a:cubicBezTo>
                      <a:pt x="364" y="1"/>
                      <a:pt x="1" y="833"/>
                      <a:pt x="485" y="1332"/>
                    </a:cubicBezTo>
                    <a:cubicBezTo>
                      <a:pt x="650" y="1507"/>
                      <a:pt x="857" y="1585"/>
                      <a:pt x="1059" y="1585"/>
                    </a:cubicBezTo>
                    <a:cubicBezTo>
                      <a:pt x="1451" y="1585"/>
                      <a:pt x="1826" y="1291"/>
                      <a:pt x="1846" y="833"/>
                    </a:cubicBezTo>
                    <a:cubicBezTo>
                      <a:pt x="1846" y="379"/>
                      <a:pt x="1498" y="16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536287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44" y="1"/>
                    </a:moveTo>
                    <a:cubicBezTo>
                      <a:pt x="349" y="1"/>
                      <a:pt x="1" y="833"/>
                      <a:pt x="470" y="1332"/>
                    </a:cubicBezTo>
                    <a:cubicBezTo>
                      <a:pt x="635" y="1507"/>
                      <a:pt x="842" y="1585"/>
                      <a:pt x="1044" y="1585"/>
                    </a:cubicBezTo>
                    <a:cubicBezTo>
                      <a:pt x="1436" y="1585"/>
                      <a:pt x="1811" y="1291"/>
                      <a:pt x="1831" y="833"/>
                    </a:cubicBezTo>
                    <a:cubicBezTo>
                      <a:pt x="1846" y="379"/>
                      <a:pt x="1483" y="16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803223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44" y="1"/>
                    </a:moveTo>
                    <a:cubicBezTo>
                      <a:pt x="349" y="1"/>
                      <a:pt x="1" y="833"/>
                      <a:pt x="485" y="1332"/>
                    </a:cubicBezTo>
                    <a:cubicBezTo>
                      <a:pt x="644" y="1507"/>
                      <a:pt x="848" y="1585"/>
                      <a:pt x="1048" y="1585"/>
                    </a:cubicBezTo>
                    <a:cubicBezTo>
                      <a:pt x="1436" y="1585"/>
                      <a:pt x="1811" y="1291"/>
                      <a:pt x="1831" y="833"/>
                    </a:cubicBezTo>
                    <a:cubicBezTo>
                      <a:pt x="1846" y="379"/>
                      <a:pt x="1498" y="16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070160" y="1704331"/>
                <a:ext cx="59622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86" extrusionOk="0">
                    <a:moveTo>
                      <a:pt x="1059" y="1"/>
                    </a:moveTo>
                    <a:cubicBezTo>
                      <a:pt x="364" y="1"/>
                      <a:pt x="1" y="833"/>
                      <a:pt x="485" y="1332"/>
                    </a:cubicBezTo>
                    <a:cubicBezTo>
                      <a:pt x="650" y="1507"/>
                      <a:pt x="857" y="1585"/>
                      <a:pt x="1059" y="1585"/>
                    </a:cubicBezTo>
                    <a:cubicBezTo>
                      <a:pt x="1451" y="1585"/>
                      <a:pt x="1826" y="1291"/>
                      <a:pt x="1846" y="833"/>
                    </a:cubicBezTo>
                    <a:cubicBezTo>
                      <a:pt x="1861" y="379"/>
                      <a:pt x="1498" y="16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39" name="Google Shape;39;p2"/>
            <p:cNvGrpSpPr/>
            <p:nvPr/>
          </p:nvGrpSpPr>
          <p:grpSpPr>
            <a:xfrm rot="-5400000">
              <a:off x="6747803" y="2658714"/>
              <a:ext cx="1129770" cy="1173854"/>
              <a:chOff x="11" y="583339"/>
              <a:chExt cx="1129770" cy="1173854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9686" y="583339"/>
                <a:ext cx="51388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604" h="1649" extrusionOk="0">
                    <a:moveTo>
                      <a:pt x="802" y="0"/>
                    </a:moveTo>
                    <a:cubicBezTo>
                      <a:pt x="364" y="15"/>
                      <a:pt x="1" y="378"/>
                      <a:pt x="16" y="832"/>
                    </a:cubicBezTo>
                    <a:cubicBezTo>
                      <a:pt x="1" y="1270"/>
                      <a:pt x="364" y="1633"/>
                      <a:pt x="802" y="1648"/>
                    </a:cubicBezTo>
                    <a:cubicBezTo>
                      <a:pt x="1256" y="1633"/>
                      <a:pt x="1604" y="1270"/>
                      <a:pt x="1589" y="832"/>
                    </a:cubicBezTo>
                    <a:cubicBezTo>
                      <a:pt x="1604" y="378"/>
                      <a:pt x="1256" y="15"/>
                      <a:pt x="8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77103" y="584524"/>
                <a:ext cx="50908" cy="50555"/>
              </a:xfrm>
              <a:custGeom>
                <a:avLst/>
                <a:gdLst/>
                <a:ahLst/>
                <a:cxnLst/>
                <a:rect l="l" t="t" r="r" b="b"/>
                <a:pathLst>
                  <a:path w="1589" h="1578" extrusionOk="0">
                    <a:moveTo>
                      <a:pt x="795" y="1"/>
                    </a:moveTo>
                    <a:cubicBezTo>
                      <a:pt x="398" y="1"/>
                      <a:pt x="1" y="265"/>
                      <a:pt x="1" y="795"/>
                    </a:cubicBezTo>
                    <a:cubicBezTo>
                      <a:pt x="1" y="1316"/>
                      <a:pt x="398" y="1577"/>
                      <a:pt x="795" y="1577"/>
                    </a:cubicBezTo>
                    <a:cubicBezTo>
                      <a:pt x="1192" y="1577"/>
                      <a:pt x="1589" y="1316"/>
                      <a:pt x="1589" y="795"/>
                    </a:cubicBezTo>
                    <a:cubicBezTo>
                      <a:pt x="1589" y="265"/>
                      <a:pt x="1192" y="1"/>
                      <a:pt x="7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543559" y="583435"/>
                <a:ext cx="52349" cy="52734"/>
              </a:xfrm>
              <a:custGeom>
                <a:avLst/>
                <a:gdLst/>
                <a:ahLst/>
                <a:cxnLst/>
                <a:rect l="l" t="t" r="r" b="b"/>
                <a:pathLst>
                  <a:path w="1634" h="1646" extrusionOk="0">
                    <a:moveTo>
                      <a:pt x="817" y="1"/>
                    </a:moveTo>
                    <a:cubicBezTo>
                      <a:pt x="409" y="1"/>
                      <a:pt x="1" y="277"/>
                      <a:pt x="31" y="829"/>
                    </a:cubicBezTo>
                    <a:cubicBezTo>
                      <a:pt x="1" y="1267"/>
                      <a:pt x="364" y="1645"/>
                      <a:pt x="817" y="1645"/>
                    </a:cubicBezTo>
                    <a:cubicBezTo>
                      <a:pt x="1271" y="1645"/>
                      <a:pt x="1619" y="1267"/>
                      <a:pt x="1604" y="829"/>
                    </a:cubicBezTo>
                    <a:cubicBezTo>
                      <a:pt x="1634" y="277"/>
                      <a:pt x="1226" y="1"/>
                      <a:pt x="8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810752" y="583435"/>
                <a:ext cx="52093" cy="52734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1646" extrusionOk="0">
                    <a:moveTo>
                      <a:pt x="815" y="1"/>
                    </a:moveTo>
                    <a:cubicBezTo>
                      <a:pt x="408" y="1"/>
                      <a:pt x="0" y="277"/>
                      <a:pt x="23" y="829"/>
                    </a:cubicBezTo>
                    <a:cubicBezTo>
                      <a:pt x="8" y="1267"/>
                      <a:pt x="371" y="1645"/>
                      <a:pt x="809" y="1645"/>
                    </a:cubicBezTo>
                    <a:cubicBezTo>
                      <a:pt x="1263" y="1645"/>
                      <a:pt x="1626" y="1267"/>
                      <a:pt x="1596" y="829"/>
                    </a:cubicBezTo>
                    <a:cubicBezTo>
                      <a:pt x="1626" y="277"/>
                      <a:pt x="1221" y="1"/>
                      <a:pt x="8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078874" y="584524"/>
                <a:ext cx="50427" cy="50555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1578" extrusionOk="0">
                    <a:moveTo>
                      <a:pt x="787" y="1"/>
                    </a:moveTo>
                    <a:cubicBezTo>
                      <a:pt x="394" y="1"/>
                      <a:pt x="1" y="265"/>
                      <a:pt x="1" y="795"/>
                    </a:cubicBezTo>
                    <a:cubicBezTo>
                      <a:pt x="1" y="1316"/>
                      <a:pt x="394" y="1577"/>
                      <a:pt x="787" y="1577"/>
                    </a:cubicBezTo>
                    <a:cubicBezTo>
                      <a:pt x="1180" y="1577"/>
                      <a:pt x="1574" y="1316"/>
                      <a:pt x="1574" y="795"/>
                    </a:cubicBezTo>
                    <a:cubicBezTo>
                      <a:pt x="1574" y="265"/>
                      <a:pt x="1180" y="1"/>
                      <a:pt x="7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933" y="863347"/>
                <a:ext cx="59141" cy="5331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664" extrusionOk="0">
                    <a:moveTo>
                      <a:pt x="1044" y="0"/>
                    </a:moveTo>
                    <a:cubicBezTo>
                      <a:pt x="1" y="61"/>
                      <a:pt x="1" y="1603"/>
                      <a:pt x="1044" y="1663"/>
                    </a:cubicBezTo>
                    <a:cubicBezTo>
                      <a:pt x="1483" y="1648"/>
                      <a:pt x="1846" y="1270"/>
                      <a:pt x="1831" y="832"/>
                    </a:cubicBezTo>
                    <a:cubicBezTo>
                      <a:pt x="1846" y="393"/>
                      <a:pt x="1498" y="15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268870" y="863827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0"/>
                    </a:moveTo>
                    <a:cubicBezTo>
                      <a:pt x="364" y="0"/>
                      <a:pt x="1" y="817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2" y="1574"/>
                      <a:pt x="1816" y="1279"/>
                      <a:pt x="1846" y="817"/>
                    </a:cubicBezTo>
                    <a:cubicBezTo>
                      <a:pt x="1846" y="378"/>
                      <a:pt x="1498" y="0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536287" y="863827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17"/>
                      <a:pt x="470" y="1331"/>
                    </a:cubicBezTo>
                    <a:cubicBezTo>
                      <a:pt x="632" y="1499"/>
                      <a:pt x="836" y="1574"/>
                      <a:pt x="1035" y="1574"/>
                    </a:cubicBezTo>
                    <a:cubicBezTo>
                      <a:pt x="1430" y="1574"/>
                      <a:pt x="1811" y="1279"/>
                      <a:pt x="1831" y="817"/>
                    </a:cubicBezTo>
                    <a:cubicBezTo>
                      <a:pt x="1846" y="378"/>
                      <a:pt x="1483" y="0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03383" y="863827"/>
                <a:ext cx="5898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1" h="1575" extrusionOk="0">
                    <a:moveTo>
                      <a:pt x="1021" y="0"/>
                    </a:moveTo>
                    <a:cubicBezTo>
                      <a:pt x="352" y="0"/>
                      <a:pt x="0" y="821"/>
                      <a:pt x="480" y="1331"/>
                    </a:cubicBezTo>
                    <a:cubicBezTo>
                      <a:pt x="637" y="1499"/>
                      <a:pt x="837" y="1574"/>
                      <a:pt x="1035" y="1574"/>
                    </a:cubicBezTo>
                    <a:cubicBezTo>
                      <a:pt x="1425" y="1574"/>
                      <a:pt x="1805" y="1279"/>
                      <a:pt x="1826" y="817"/>
                    </a:cubicBezTo>
                    <a:cubicBezTo>
                      <a:pt x="1841" y="378"/>
                      <a:pt x="1493" y="0"/>
                      <a:pt x="1039" y="0"/>
                    </a:cubicBezTo>
                    <a:cubicBezTo>
                      <a:pt x="1033" y="0"/>
                      <a:pt x="1027" y="0"/>
                      <a:pt x="10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070160" y="863827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0"/>
                    </a:moveTo>
                    <a:cubicBezTo>
                      <a:pt x="364" y="0"/>
                      <a:pt x="1" y="817"/>
                      <a:pt x="485" y="1331"/>
                    </a:cubicBezTo>
                    <a:cubicBezTo>
                      <a:pt x="647" y="1499"/>
                      <a:pt x="851" y="1574"/>
                      <a:pt x="1050" y="1574"/>
                    </a:cubicBezTo>
                    <a:cubicBezTo>
                      <a:pt x="1445" y="1574"/>
                      <a:pt x="1825" y="1279"/>
                      <a:pt x="1846" y="817"/>
                    </a:cubicBezTo>
                    <a:cubicBezTo>
                      <a:pt x="1861" y="378"/>
                      <a:pt x="1498" y="0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1" y="1143835"/>
                <a:ext cx="61063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49" extrusionOk="0">
                    <a:moveTo>
                      <a:pt x="1104" y="0"/>
                    </a:moveTo>
                    <a:cubicBezTo>
                      <a:pt x="0" y="0"/>
                      <a:pt x="0" y="1649"/>
                      <a:pt x="1104" y="1649"/>
                    </a:cubicBezTo>
                    <a:cubicBezTo>
                      <a:pt x="1558" y="1634"/>
                      <a:pt x="1906" y="1271"/>
                      <a:pt x="1891" y="832"/>
                    </a:cubicBezTo>
                    <a:cubicBezTo>
                      <a:pt x="1906" y="378"/>
                      <a:pt x="1558" y="16"/>
                      <a:pt x="11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268870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0"/>
                    </a:moveTo>
                    <a:cubicBezTo>
                      <a:pt x="364" y="0"/>
                      <a:pt x="1" y="832"/>
                      <a:pt x="485" y="1331"/>
                    </a:cubicBezTo>
                    <a:cubicBezTo>
                      <a:pt x="648" y="1499"/>
                      <a:pt x="852" y="1575"/>
                      <a:pt x="1053" y="1575"/>
                    </a:cubicBezTo>
                    <a:cubicBezTo>
                      <a:pt x="1447" y="1575"/>
                      <a:pt x="1826" y="1283"/>
                      <a:pt x="1846" y="832"/>
                    </a:cubicBezTo>
                    <a:cubicBezTo>
                      <a:pt x="1846" y="378"/>
                      <a:pt x="1498" y="16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536287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32"/>
                      <a:pt x="470" y="1331"/>
                    </a:cubicBezTo>
                    <a:cubicBezTo>
                      <a:pt x="633" y="1499"/>
                      <a:pt x="837" y="1575"/>
                      <a:pt x="1038" y="1575"/>
                    </a:cubicBezTo>
                    <a:cubicBezTo>
                      <a:pt x="1432" y="1575"/>
                      <a:pt x="1811" y="1283"/>
                      <a:pt x="1831" y="832"/>
                    </a:cubicBezTo>
                    <a:cubicBezTo>
                      <a:pt x="1846" y="378"/>
                      <a:pt x="1483" y="16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803223" y="1143835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0"/>
                    </a:moveTo>
                    <a:cubicBezTo>
                      <a:pt x="349" y="0"/>
                      <a:pt x="1" y="832"/>
                      <a:pt x="485" y="1331"/>
                    </a:cubicBezTo>
                    <a:cubicBezTo>
                      <a:pt x="643" y="1499"/>
                      <a:pt x="844" y="1575"/>
                      <a:pt x="1042" y="1575"/>
                    </a:cubicBezTo>
                    <a:cubicBezTo>
                      <a:pt x="1432" y="1575"/>
                      <a:pt x="1810" y="1283"/>
                      <a:pt x="1831" y="832"/>
                    </a:cubicBezTo>
                    <a:cubicBezTo>
                      <a:pt x="1846" y="378"/>
                      <a:pt x="1498" y="16"/>
                      <a:pt x="1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070160" y="1143835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0"/>
                    </a:moveTo>
                    <a:cubicBezTo>
                      <a:pt x="364" y="0"/>
                      <a:pt x="1" y="832"/>
                      <a:pt x="485" y="1331"/>
                    </a:cubicBezTo>
                    <a:cubicBezTo>
                      <a:pt x="648" y="1499"/>
                      <a:pt x="852" y="1575"/>
                      <a:pt x="1053" y="1575"/>
                    </a:cubicBezTo>
                    <a:cubicBezTo>
                      <a:pt x="1447" y="1575"/>
                      <a:pt x="1825" y="1283"/>
                      <a:pt x="1846" y="832"/>
                    </a:cubicBezTo>
                    <a:cubicBezTo>
                      <a:pt x="1861" y="378"/>
                      <a:pt x="1498" y="16"/>
                      <a:pt x="10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933" y="1424323"/>
                <a:ext cx="59141" cy="5283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649" extrusionOk="0">
                    <a:moveTo>
                      <a:pt x="1044" y="1"/>
                    </a:moveTo>
                    <a:cubicBezTo>
                      <a:pt x="1" y="46"/>
                      <a:pt x="1" y="1588"/>
                      <a:pt x="1044" y="1649"/>
                    </a:cubicBezTo>
                    <a:cubicBezTo>
                      <a:pt x="1498" y="1634"/>
                      <a:pt x="1846" y="1271"/>
                      <a:pt x="1831" y="817"/>
                    </a:cubicBezTo>
                    <a:cubicBezTo>
                      <a:pt x="1846" y="379"/>
                      <a:pt x="1498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268870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59" y="1"/>
                    </a:moveTo>
                    <a:cubicBezTo>
                      <a:pt x="364" y="1"/>
                      <a:pt x="1" y="832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2" y="1574"/>
                      <a:pt x="1816" y="1279"/>
                      <a:pt x="1846" y="817"/>
                    </a:cubicBezTo>
                    <a:cubicBezTo>
                      <a:pt x="1846" y="379"/>
                      <a:pt x="1498" y="1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536287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1"/>
                    </a:moveTo>
                    <a:cubicBezTo>
                      <a:pt x="349" y="1"/>
                      <a:pt x="1" y="832"/>
                      <a:pt x="470" y="1331"/>
                    </a:cubicBezTo>
                    <a:cubicBezTo>
                      <a:pt x="632" y="1499"/>
                      <a:pt x="836" y="1574"/>
                      <a:pt x="1035" y="1574"/>
                    </a:cubicBezTo>
                    <a:cubicBezTo>
                      <a:pt x="1430" y="1574"/>
                      <a:pt x="1811" y="1279"/>
                      <a:pt x="1831" y="817"/>
                    </a:cubicBezTo>
                    <a:cubicBezTo>
                      <a:pt x="1846" y="379"/>
                      <a:pt x="1483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803223" y="1424323"/>
                <a:ext cx="59141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75" extrusionOk="0">
                    <a:moveTo>
                      <a:pt x="1044" y="1"/>
                    </a:moveTo>
                    <a:cubicBezTo>
                      <a:pt x="364" y="1"/>
                      <a:pt x="1" y="817"/>
                      <a:pt x="485" y="1331"/>
                    </a:cubicBezTo>
                    <a:cubicBezTo>
                      <a:pt x="642" y="1499"/>
                      <a:pt x="842" y="1574"/>
                      <a:pt x="1040" y="1574"/>
                    </a:cubicBezTo>
                    <a:cubicBezTo>
                      <a:pt x="1430" y="1574"/>
                      <a:pt x="1810" y="1279"/>
                      <a:pt x="1831" y="817"/>
                    </a:cubicBezTo>
                    <a:cubicBezTo>
                      <a:pt x="1846" y="379"/>
                      <a:pt x="1498" y="1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070160" y="1424323"/>
                <a:ext cx="59622" cy="50459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75" extrusionOk="0">
                    <a:moveTo>
                      <a:pt x="1059" y="1"/>
                    </a:moveTo>
                    <a:cubicBezTo>
                      <a:pt x="364" y="1"/>
                      <a:pt x="1" y="832"/>
                      <a:pt x="485" y="1331"/>
                    </a:cubicBezTo>
                    <a:cubicBezTo>
                      <a:pt x="647" y="1499"/>
                      <a:pt x="851" y="1574"/>
                      <a:pt x="1050" y="1574"/>
                    </a:cubicBezTo>
                    <a:cubicBezTo>
                      <a:pt x="1445" y="1574"/>
                      <a:pt x="1825" y="1279"/>
                      <a:pt x="1846" y="817"/>
                    </a:cubicBezTo>
                    <a:cubicBezTo>
                      <a:pt x="1861" y="379"/>
                      <a:pt x="1498" y="1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1" y="1704331"/>
                <a:ext cx="61063" cy="52862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650" extrusionOk="0">
                    <a:moveTo>
                      <a:pt x="1104" y="1"/>
                    </a:moveTo>
                    <a:cubicBezTo>
                      <a:pt x="0" y="1"/>
                      <a:pt x="0" y="1649"/>
                      <a:pt x="1104" y="1649"/>
                    </a:cubicBezTo>
                    <a:cubicBezTo>
                      <a:pt x="1558" y="1649"/>
                      <a:pt x="1906" y="1271"/>
                      <a:pt x="1891" y="833"/>
                    </a:cubicBezTo>
                    <a:cubicBezTo>
                      <a:pt x="1906" y="379"/>
                      <a:pt x="1558" y="16"/>
                      <a:pt x="110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268870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59" y="1"/>
                    </a:moveTo>
                    <a:cubicBezTo>
                      <a:pt x="364" y="1"/>
                      <a:pt x="1" y="833"/>
                      <a:pt x="485" y="1332"/>
                    </a:cubicBezTo>
                    <a:cubicBezTo>
                      <a:pt x="650" y="1507"/>
                      <a:pt x="857" y="1585"/>
                      <a:pt x="1059" y="1585"/>
                    </a:cubicBezTo>
                    <a:cubicBezTo>
                      <a:pt x="1451" y="1585"/>
                      <a:pt x="1826" y="1291"/>
                      <a:pt x="1846" y="833"/>
                    </a:cubicBezTo>
                    <a:cubicBezTo>
                      <a:pt x="1846" y="379"/>
                      <a:pt x="1498" y="16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536287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44" y="1"/>
                    </a:moveTo>
                    <a:cubicBezTo>
                      <a:pt x="349" y="1"/>
                      <a:pt x="1" y="833"/>
                      <a:pt x="470" y="1332"/>
                    </a:cubicBezTo>
                    <a:cubicBezTo>
                      <a:pt x="635" y="1507"/>
                      <a:pt x="842" y="1585"/>
                      <a:pt x="1044" y="1585"/>
                    </a:cubicBezTo>
                    <a:cubicBezTo>
                      <a:pt x="1436" y="1585"/>
                      <a:pt x="1811" y="1291"/>
                      <a:pt x="1831" y="833"/>
                    </a:cubicBezTo>
                    <a:cubicBezTo>
                      <a:pt x="1846" y="379"/>
                      <a:pt x="1483" y="16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803223" y="1704331"/>
                <a:ext cx="59141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586" extrusionOk="0">
                    <a:moveTo>
                      <a:pt x="1044" y="1"/>
                    </a:moveTo>
                    <a:cubicBezTo>
                      <a:pt x="349" y="1"/>
                      <a:pt x="1" y="833"/>
                      <a:pt x="485" y="1332"/>
                    </a:cubicBezTo>
                    <a:cubicBezTo>
                      <a:pt x="644" y="1507"/>
                      <a:pt x="848" y="1585"/>
                      <a:pt x="1048" y="1585"/>
                    </a:cubicBezTo>
                    <a:cubicBezTo>
                      <a:pt x="1436" y="1585"/>
                      <a:pt x="1811" y="1291"/>
                      <a:pt x="1831" y="833"/>
                    </a:cubicBezTo>
                    <a:cubicBezTo>
                      <a:pt x="1846" y="379"/>
                      <a:pt x="1498" y="16"/>
                      <a:pt x="1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1070160" y="1704331"/>
                <a:ext cx="59622" cy="50811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586" extrusionOk="0">
                    <a:moveTo>
                      <a:pt x="1059" y="1"/>
                    </a:moveTo>
                    <a:cubicBezTo>
                      <a:pt x="364" y="1"/>
                      <a:pt x="1" y="833"/>
                      <a:pt x="485" y="1332"/>
                    </a:cubicBezTo>
                    <a:cubicBezTo>
                      <a:pt x="650" y="1507"/>
                      <a:pt x="857" y="1585"/>
                      <a:pt x="1059" y="1585"/>
                    </a:cubicBezTo>
                    <a:cubicBezTo>
                      <a:pt x="1451" y="1585"/>
                      <a:pt x="1826" y="1291"/>
                      <a:pt x="1846" y="833"/>
                    </a:cubicBezTo>
                    <a:cubicBezTo>
                      <a:pt x="1861" y="379"/>
                      <a:pt x="1498" y="16"/>
                      <a:pt x="10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/>
                  </a:solidFill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62" name="Google Shape;162;p6"/>
          <p:cNvGrpSpPr/>
          <p:nvPr/>
        </p:nvGrpSpPr>
        <p:grpSpPr>
          <a:xfrm rot="-5400000">
            <a:off x="332988" y="295378"/>
            <a:ext cx="1129770" cy="1173854"/>
            <a:chOff x="11" y="583339"/>
            <a:chExt cx="1129770" cy="1173854"/>
          </a:xfrm>
        </p:grpSpPr>
        <p:sp>
          <p:nvSpPr>
            <p:cNvPr id="163" name="Google Shape;163;p6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/>
          <p:nvPr/>
        </p:nvSpPr>
        <p:spPr>
          <a:xfrm>
            <a:off x="717150" y="935100"/>
            <a:ext cx="7709700" cy="327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21" name="Google Shape;221;p8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222" name="Google Shape;222;p8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2" name="Google Shape;242;p8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grpSp>
        <p:nvGrpSpPr>
          <p:cNvPr id="247" name="Google Shape;247;p8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248" name="Google Shape;248;p8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2" name="Google Shape;252;p8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532" name="Google Shape;532;p18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533" name="Google Shape;533;p18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6" name="Google Shape;536;p18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7" name="Google Shape;537;p18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9" name="Google Shape;539;p18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0" name="Google Shape;540;p18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2" name="Google Shape;542;p18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3" name="Google Shape;543;p18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4" name="Google Shape;544;p18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8" name="Google Shape;548;p18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3" name="Google Shape;553;p18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4" name="Google Shape;554;p18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5" name="Google Shape;555;p18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6" name="Google Shape;556;p18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7" name="Google Shape;557;p18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9"/>
          <p:cNvSpPr/>
          <p:nvPr/>
        </p:nvSpPr>
        <p:spPr>
          <a:xfrm>
            <a:off x="13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0" name="Google Shape;560;p19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561" name="Google Shape;561;p19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2" name="Google Shape;562;p19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3" name="Google Shape;563;p19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4" name="Google Shape;564;p19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5" name="Google Shape;565;p19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6" name="Google Shape;566;p19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7" name="Google Shape;567;p19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8" name="Google Shape;568;p19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9" name="Google Shape;569;p19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0" name="Google Shape;570;p19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1" name="Google Shape;571;p19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2" name="Google Shape;572;p19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3" name="Google Shape;573;p19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4" name="Google Shape;574;p19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5" name="Google Shape;575;p19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6" name="Google Shape;576;p19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7" name="Google Shape;577;p19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8" name="Google Shape;578;p19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9" name="Google Shape;579;p19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0" name="Google Shape;580;p19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1" name="Google Shape;581;p19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2" name="Google Shape;582;p19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3" name="Google Shape;583;p19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4" name="Google Shape;584;p19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5" name="Google Shape;585;p19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586" name="Google Shape;58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8" name="Google Shape;588;p20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589" name="Google Shape;589;p20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614" name="Google Shape;614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1_1_1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1"/>
          <p:cNvSpPr/>
          <p:nvPr/>
        </p:nvSpPr>
        <p:spPr>
          <a:xfrm>
            <a:off x="13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7" name="Google Shape;617;p21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618" name="Google Shape;618;p21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9" name="Google Shape;619;p21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0" name="Google Shape;620;p21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1" name="Google Shape;621;p21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2" name="Google Shape;622;p21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3" name="Google Shape;623;p21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4" name="Google Shape;624;p21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5" name="Google Shape;625;p21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6" name="Google Shape;626;p21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7" name="Google Shape;627;p21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8" name="Google Shape;628;p21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29" name="Google Shape;629;p21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0" name="Google Shape;630;p21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1" name="Google Shape;631;p21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2" name="Google Shape;632;p21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3" name="Google Shape;633;p21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4" name="Google Shape;634;p21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5" name="Google Shape;635;p21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6" name="Google Shape;636;p21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7" name="Google Shape;637;p21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8" name="Google Shape;638;p21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39" name="Google Shape;639;p21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40" name="Google Shape;640;p21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41" name="Google Shape;641;p21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42" name="Google Shape;642;p21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643" name="Google Shape;64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1_1_1_1_1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646" name="Google Shape;646;p22"/>
          <p:cNvGrpSpPr/>
          <p:nvPr/>
        </p:nvGrpSpPr>
        <p:grpSpPr>
          <a:xfrm rot="-5400000">
            <a:off x="332988" y="295378"/>
            <a:ext cx="1129770" cy="1173854"/>
            <a:chOff x="11" y="583339"/>
            <a:chExt cx="1129770" cy="1173854"/>
          </a:xfrm>
        </p:grpSpPr>
        <p:sp>
          <p:nvSpPr>
            <p:cNvPr id="647" name="Google Shape;647;p22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48" name="Google Shape;648;p22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49" name="Google Shape;649;p22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0" name="Google Shape;650;p22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1" name="Google Shape;651;p22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2" name="Google Shape;652;p22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3" name="Google Shape;653;p22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4" name="Google Shape;654;p22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5" name="Google Shape;655;p22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6" name="Google Shape;656;p22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7" name="Google Shape;657;p22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8" name="Google Shape;658;p22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59" name="Google Shape;659;p22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0" name="Google Shape;660;p22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1" name="Google Shape;661;p22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2" name="Google Shape;662;p22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3" name="Google Shape;663;p22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4" name="Google Shape;664;p22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5" name="Google Shape;665;p22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6" name="Google Shape;666;p22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7" name="Google Shape;667;p22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8" name="Google Shape;668;p22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69" name="Google Shape;669;p22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70" name="Google Shape;670;p22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71" name="Google Shape;671;p22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3"/>
          <p:cNvSpPr txBox="1">
            <a:spLocks noGrp="1"/>
          </p:cNvSpPr>
          <p:nvPr>
            <p:ph type="title"/>
          </p:nvPr>
        </p:nvSpPr>
        <p:spPr>
          <a:xfrm>
            <a:off x="2391900" y="3044542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74" name="Google Shape;674;p23"/>
          <p:cNvSpPr txBox="1">
            <a:spLocks noGrp="1"/>
          </p:cNvSpPr>
          <p:nvPr>
            <p:ph type="subTitle" idx="1"/>
          </p:nvPr>
        </p:nvSpPr>
        <p:spPr>
          <a:xfrm>
            <a:off x="1996200" y="1567050"/>
            <a:ext cx="5151600" cy="147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3"/>
          <p:cNvSpPr/>
          <p:nvPr/>
        </p:nvSpPr>
        <p:spPr>
          <a:xfrm>
            <a:off x="13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6" name="Google Shape;676;p23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677" name="Google Shape;677;p23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78" name="Google Shape;678;p23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79" name="Google Shape;679;p23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0" name="Google Shape;680;p23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1" name="Google Shape;681;p23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2" name="Google Shape;682;p23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3" name="Google Shape;683;p23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4" name="Google Shape;684;p23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5" name="Google Shape;685;p23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6" name="Google Shape;686;p23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7" name="Google Shape;687;p23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8" name="Google Shape;688;p23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9" name="Google Shape;689;p23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0" name="Google Shape;690;p23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1" name="Google Shape;691;p23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2" name="Google Shape;692;p23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3" name="Google Shape;693;p23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4" name="Google Shape;694;p23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5" name="Google Shape;695;p23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6" name="Google Shape;696;p23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7" name="Google Shape;697;p23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8" name="Google Shape;698;p23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9" name="Google Shape;699;p23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00" name="Google Shape;700;p23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01" name="Google Shape;701;p23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0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Questrial"/>
              <a:buChar char="●"/>
              <a:defRPr sz="180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○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■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●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○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■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●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○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Questrial"/>
              <a:buChar char="■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8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32"/>
          <p:cNvSpPr txBox="1">
            <a:spLocks noGrp="1"/>
          </p:cNvSpPr>
          <p:nvPr>
            <p:ph type="ctrTitle"/>
          </p:nvPr>
        </p:nvSpPr>
        <p:spPr>
          <a:xfrm>
            <a:off x="711900" y="1386639"/>
            <a:ext cx="61962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Project Title:</a:t>
            </a:r>
            <a:br>
              <a:rPr lang="en-IN" sz="3600" dirty="0"/>
            </a:br>
            <a:r>
              <a:rPr lang="en-IN" sz="3600" dirty="0"/>
              <a:t>PCB Defect Detection System</a:t>
            </a:r>
            <a:endParaRPr sz="3600" dirty="0"/>
          </a:p>
        </p:txBody>
      </p:sp>
      <p:sp>
        <p:nvSpPr>
          <p:cNvPr id="983" name="Google Shape;983;p32"/>
          <p:cNvSpPr txBox="1">
            <a:spLocks noGrp="1"/>
          </p:cNvSpPr>
          <p:nvPr>
            <p:ph type="subTitle" idx="1"/>
          </p:nvPr>
        </p:nvSpPr>
        <p:spPr>
          <a:xfrm>
            <a:off x="711900" y="3294939"/>
            <a:ext cx="6196200" cy="4816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By- Deepali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F06A0-1F53-0A40-EE38-9F87EEC9E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152" y="407855"/>
            <a:ext cx="7704000" cy="572700"/>
          </a:xfrm>
        </p:spPr>
        <p:txBody>
          <a:bodyPr/>
          <a:lstStyle/>
          <a:p>
            <a:r>
              <a:rPr lang="en-IN" dirty="0"/>
              <a:t>Introduction and Project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7506BB-1C44-414B-74BD-0E7186F22B63}"/>
              </a:ext>
            </a:extLst>
          </p:cNvPr>
          <p:cNvSpPr txBox="1"/>
          <p:nvPr/>
        </p:nvSpPr>
        <p:spPr>
          <a:xfrm>
            <a:off x="1854819" y="1099501"/>
            <a:ext cx="7289181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Candara" panose="020E0502030303020204" pitchFamily="34" charset="0"/>
              </a:rPr>
              <a:t>PCB Defect Detection and Classification System</a:t>
            </a:r>
          </a:p>
          <a:p>
            <a:pPr>
              <a:buNone/>
            </a:pPr>
            <a:r>
              <a:rPr lang="en-US" sz="1600" b="1" dirty="0">
                <a:latin typeface="Candara" panose="020E0502030303020204" pitchFamily="34" charset="0"/>
              </a:rPr>
              <a:t> Project Overview:</a:t>
            </a:r>
          </a:p>
          <a:p>
            <a:pPr>
              <a:buNone/>
            </a:pPr>
            <a:r>
              <a:rPr lang="en-US" sz="1600" dirty="0">
                <a:latin typeface="Candara" panose="020E0502030303020204" pitchFamily="34" charset="0"/>
              </a:rPr>
              <a:t>Printed Circuit Boards (PCBs) are critical components in electronic systems.</a:t>
            </a:r>
            <a:br>
              <a:rPr lang="en-US" sz="1600" dirty="0">
                <a:latin typeface="Candara" panose="020E0502030303020204" pitchFamily="34" charset="0"/>
              </a:rPr>
            </a:br>
            <a:r>
              <a:rPr lang="en-US" sz="1600" dirty="0">
                <a:latin typeface="Candara" panose="020E0502030303020204" pitchFamily="34" charset="0"/>
              </a:rPr>
              <a:t>Manual inspection of PCB defects is time-consuming, error-prone, and inefficient for large-scale production.</a:t>
            </a:r>
          </a:p>
          <a:p>
            <a:pPr>
              <a:buNone/>
            </a:pPr>
            <a:r>
              <a:rPr lang="en-US" sz="1600" dirty="0">
                <a:latin typeface="Candara" panose="020E0502030303020204" pitchFamily="34" charset="0"/>
              </a:rPr>
              <a:t>This project presents an </a:t>
            </a:r>
            <a:r>
              <a:rPr lang="en-US" sz="1600" b="1" dirty="0">
                <a:latin typeface="Candara" panose="020E0502030303020204" pitchFamily="34" charset="0"/>
              </a:rPr>
              <a:t>automated PCB defect detection and classification system</a:t>
            </a:r>
            <a:r>
              <a:rPr lang="en-US" sz="1600" dirty="0">
                <a:latin typeface="Candara" panose="020E0502030303020204" pitchFamily="34" charset="0"/>
              </a:rPr>
              <a:t>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Reference-based Image Subtraction (OpenCV)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 Contour Detection &amp; ROI Extraction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 Transfer Learning with EfficientNet (Deep Learning)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ndara" panose="020E0502030303020204" pitchFamily="34" charset="0"/>
              </a:rPr>
              <a:t>Streamlit</a:t>
            </a:r>
            <a:r>
              <a:rPr lang="en-US" sz="1600" dirty="0">
                <a:latin typeface="Candara" panose="020E0502030303020204" pitchFamily="34" charset="0"/>
              </a:rPr>
              <a:t>-based Web Application for real-time prediction</a:t>
            </a:r>
          </a:p>
          <a:p>
            <a:pPr>
              <a:buNone/>
            </a:pPr>
            <a:r>
              <a:rPr lang="en-US" sz="1600" b="1" dirty="0">
                <a:latin typeface="Candara" panose="020E0502030303020204" pitchFamily="34" charset="0"/>
              </a:rPr>
              <a:t> Project Objectives: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Detect and localize PCB defects using template 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Extract defect regions automatically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Classify defects into 6 predefined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Provide a user-friendly web interface for image upload and visualization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299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37"/>
          <p:cNvSpPr txBox="1">
            <a:spLocks noGrp="1"/>
          </p:cNvSpPr>
          <p:nvPr>
            <p:ph type="title"/>
          </p:nvPr>
        </p:nvSpPr>
        <p:spPr>
          <a:xfrm>
            <a:off x="2632854" y="96453"/>
            <a:ext cx="5651846" cy="83262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IN" sz="2400" dirty="0"/>
              <a:t>Dataset Description and Preparation</a:t>
            </a:r>
            <a:endParaRPr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D52C31-AE83-24F6-2CBE-33B5006A7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355" y="2854731"/>
            <a:ext cx="6760845" cy="1044764"/>
          </a:xfrm>
        </p:spPr>
        <p:txBody>
          <a:bodyPr/>
          <a:lstStyle/>
          <a:p>
            <a:pPr algn="l"/>
            <a:r>
              <a:rPr lang="en-IN" sz="1600" dirty="0">
                <a:solidFill>
                  <a:schemeClr val="tx1"/>
                </a:solidFill>
                <a:latin typeface="Candara" panose="020E0502030303020204" pitchFamily="34" charset="0"/>
              </a:rPr>
              <a:t>The project uses the </a:t>
            </a:r>
            <a:r>
              <a:rPr lang="en-IN" sz="1600" b="1" dirty="0">
                <a:solidFill>
                  <a:schemeClr val="tx1"/>
                </a:solidFill>
                <a:latin typeface="Candara" panose="020E0502030303020204" pitchFamily="34" charset="0"/>
              </a:rPr>
              <a:t>DeepPCB Dataset</a:t>
            </a:r>
            <a:r>
              <a:rPr lang="en-IN" sz="1600" dirty="0">
                <a:solidFill>
                  <a:schemeClr val="tx1"/>
                </a:solidFill>
                <a:latin typeface="Candara" panose="020E0502030303020204" pitchFamily="34" charset="0"/>
              </a:rPr>
              <a:t>, which contains paired images of: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1" dirty="0">
                <a:solidFill>
                  <a:schemeClr val="tx1"/>
                </a:solidFill>
                <a:latin typeface="Candara" panose="020E0502030303020204" pitchFamily="34" charset="0"/>
              </a:rPr>
              <a:t>Template (Golden) PCB images</a:t>
            </a:r>
            <a:r>
              <a:rPr lang="en-IN" sz="1500" dirty="0">
                <a:solidFill>
                  <a:schemeClr val="tx1"/>
                </a:solidFill>
                <a:latin typeface="Candara" panose="020E0502030303020204" pitchFamily="34" charset="0"/>
              </a:rPr>
              <a:t> – defect-free boards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Candara" panose="020E0502030303020204" pitchFamily="34" charset="0"/>
              </a:rPr>
              <a:t> </a:t>
            </a:r>
            <a:r>
              <a:rPr lang="en-IN" sz="1500" b="1" dirty="0">
                <a:solidFill>
                  <a:schemeClr val="tx1"/>
                </a:solidFill>
                <a:latin typeface="Candara" panose="020E0502030303020204" pitchFamily="34" charset="0"/>
              </a:rPr>
              <a:t>Defective PCB test images</a:t>
            </a:r>
            <a:endParaRPr lang="en-IN" sz="15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algn="l"/>
            <a:r>
              <a:rPr lang="en-IN" sz="1500" dirty="0">
                <a:solidFill>
                  <a:schemeClr val="tx1"/>
                </a:solidFill>
                <a:latin typeface="Candara" panose="020E0502030303020204" pitchFamily="34" charset="0"/>
              </a:rPr>
              <a:t>Each test image contains one or more defects.</a:t>
            </a:r>
          </a:p>
          <a:p>
            <a:pPr algn="l"/>
            <a:r>
              <a:rPr lang="en-IN" sz="1500" b="1" dirty="0">
                <a:solidFill>
                  <a:schemeClr val="tx1"/>
                </a:solidFill>
                <a:latin typeface="Candara" panose="020E0502030303020204" pitchFamily="34" charset="0"/>
              </a:rPr>
              <a:t>Defect Categories (6 Classes):</a:t>
            </a:r>
          </a:p>
          <a:p>
            <a:pPr algn="l">
              <a:buFont typeface="+mj-lt"/>
              <a:buAutoNum type="arabicPeriod"/>
            </a:pPr>
            <a:r>
              <a:rPr lang="en-IN" sz="1500" dirty="0">
                <a:solidFill>
                  <a:schemeClr val="tx1"/>
                </a:solidFill>
                <a:latin typeface="Candara" panose="020E0502030303020204" pitchFamily="34" charset="0"/>
              </a:rPr>
              <a:t>Missing Hole</a:t>
            </a:r>
          </a:p>
          <a:p>
            <a:pPr algn="l">
              <a:buFont typeface="+mj-lt"/>
              <a:buAutoNum type="arabicPeriod"/>
            </a:pPr>
            <a:r>
              <a:rPr lang="en-IN" sz="1500" dirty="0">
                <a:solidFill>
                  <a:schemeClr val="tx1"/>
                </a:solidFill>
                <a:latin typeface="Candara" panose="020E0502030303020204" pitchFamily="34" charset="0"/>
              </a:rPr>
              <a:t>Mouse Bite</a:t>
            </a:r>
          </a:p>
          <a:p>
            <a:pPr algn="l">
              <a:buFont typeface="+mj-lt"/>
              <a:buAutoNum type="arabicPeriod"/>
            </a:pPr>
            <a:r>
              <a:rPr lang="en-IN" sz="1500" dirty="0">
                <a:solidFill>
                  <a:schemeClr val="tx1"/>
                </a:solidFill>
                <a:latin typeface="Candara" panose="020E0502030303020204" pitchFamily="34" charset="0"/>
              </a:rPr>
              <a:t>Open Circuit</a:t>
            </a:r>
          </a:p>
          <a:p>
            <a:pPr algn="l">
              <a:buFont typeface="+mj-lt"/>
              <a:buAutoNum type="arabicPeriod"/>
            </a:pPr>
            <a:r>
              <a:rPr lang="en-IN" sz="1500" dirty="0">
                <a:solidFill>
                  <a:schemeClr val="tx1"/>
                </a:solidFill>
                <a:latin typeface="Candara" panose="020E0502030303020204" pitchFamily="34" charset="0"/>
              </a:rPr>
              <a:t>Short</a:t>
            </a:r>
          </a:p>
          <a:p>
            <a:pPr algn="l">
              <a:buFont typeface="+mj-lt"/>
              <a:buAutoNum type="arabicPeriod"/>
            </a:pPr>
            <a:r>
              <a:rPr lang="en-IN" sz="1500" dirty="0">
                <a:solidFill>
                  <a:schemeClr val="tx1"/>
                </a:solidFill>
                <a:latin typeface="Candara" panose="020E0502030303020204" pitchFamily="34" charset="0"/>
              </a:rPr>
              <a:t>Spur</a:t>
            </a:r>
          </a:p>
          <a:p>
            <a:pPr algn="l">
              <a:buFont typeface="+mj-lt"/>
              <a:buAutoNum type="arabicPeriod"/>
            </a:pPr>
            <a:r>
              <a:rPr lang="en-IN" sz="1500" dirty="0">
                <a:solidFill>
                  <a:schemeClr val="tx1"/>
                </a:solidFill>
                <a:latin typeface="Candara" panose="020E0502030303020204" pitchFamily="34" charset="0"/>
              </a:rPr>
              <a:t>Spurious Copper</a:t>
            </a:r>
          </a:p>
          <a:p>
            <a:pPr algn="l"/>
            <a:r>
              <a:rPr lang="en-IN" sz="1500" b="1" dirty="0">
                <a:solidFill>
                  <a:schemeClr val="tx1"/>
                </a:solidFill>
                <a:latin typeface="Candara" panose="020E0502030303020204" pitchFamily="34" charset="0"/>
              </a:rPr>
              <a:t>Data Preparation Steps: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Candara" panose="020E0502030303020204" pitchFamily="34" charset="0"/>
              </a:rPr>
              <a:t>Template and test image alignment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Candara" panose="020E0502030303020204" pitchFamily="34" charset="0"/>
              </a:rPr>
              <a:t>Automatic template matching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Candara" panose="020E0502030303020204" pitchFamily="34" charset="0"/>
              </a:rPr>
              <a:t>Mask generation using subtraction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Candara" panose="020E0502030303020204" pitchFamily="34" charset="0"/>
              </a:rPr>
              <a:t>ROI extraction and labeling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Candara" panose="020E0502030303020204" pitchFamily="34" charset="0"/>
              </a:rPr>
              <a:t>Train–Validation split (80% / 20%)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A7F00-202E-CE23-A093-98E82B389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 Techniques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21F5B7-FF2B-1D52-F012-3B377EA734AA}"/>
              </a:ext>
            </a:extLst>
          </p:cNvPr>
          <p:cNvSpPr txBox="1"/>
          <p:nvPr/>
        </p:nvSpPr>
        <p:spPr>
          <a:xfrm>
            <a:off x="4957146" y="1310637"/>
            <a:ext cx="43119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Candara" panose="020E0502030303020204" pitchFamily="34" charset="0"/>
              </a:rPr>
              <a:t> 4. Adaptive Thresholding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Converted difference image into binary mask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Local thresholding for detecting faint defects</a:t>
            </a:r>
          </a:p>
          <a:p>
            <a:endParaRPr lang="en-IN" sz="1600" dirty="0">
              <a:latin typeface="Candara" panose="020E0502030303020204" pitchFamily="34" charset="0"/>
            </a:endParaRPr>
          </a:p>
          <a:p>
            <a:r>
              <a:rPr lang="en-IN" sz="1600" b="1" dirty="0">
                <a:latin typeface="Candara" panose="020E0502030303020204" pitchFamily="34" charset="0"/>
              </a:rPr>
              <a:t> 5. Morphological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Removed 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Refined defect boundaries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Generated clean defect masks</a:t>
            </a:r>
            <a:br>
              <a:rPr lang="en-IN" sz="1600" dirty="0">
                <a:latin typeface="Candara" panose="020E0502030303020204" pitchFamily="34" charset="0"/>
              </a:rPr>
            </a:br>
            <a:endParaRPr lang="en-IN" sz="1600" dirty="0">
              <a:latin typeface="Candara" panose="020E0502030303020204" pitchFamily="34" charset="0"/>
            </a:endParaRPr>
          </a:p>
          <a:p>
            <a:r>
              <a:rPr lang="en-IN" sz="1600" b="1" dirty="0">
                <a:latin typeface="Candara" panose="020E0502030303020204" pitchFamily="34" charset="0"/>
              </a:rPr>
              <a:t> Output of Preprocessing:</a:t>
            </a:r>
          </a:p>
          <a:p>
            <a:r>
              <a:rPr lang="en-IN" sz="1600" dirty="0">
                <a:latin typeface="Candara" panose="020E0502030303020204" pitchFamily="34" charset="0"/>
              </a:rPr>
              <a:t>✔ Accurate defect mask</a:t>
            </a:r>
            <a:br>
              <a:rPr lang="en-IN" sz="1600" dirty="0">
                <a:latin typeface="Candara" panose="020E0502030303020204" pitchFamily="34" charset="0"/>
              </a:rPr>
            </a:br>
            <a:r>
              <a:rPr lang="en-IN" sz="1600" dirty="0">
                <a:latin typeface="Candara" panose="020E0502030303020204" pitchFamily="34" charset="0"/>
              </a:rPr>
              <a:t>✔ Clean separation of defective regions</a:t>
            </a:r>
            <a:br>
              <a:rPr lang="en-IN" sz="1600" dirty="0">
                <a:latin typeface="Candara" panose="020E0502030303020204" pitchFamily="34" charset="0"/>
              </a:rPr>
            </a:br>
            <a:r>
              <a:rPr lang="en-IN" sz="1600" dirty="0">
                <a:latin typeface="Candara" panose="020E0502030303020204" pitchFamily="34" charset="0"/>
              </a:rPr>
              <a:t>✔ Ready for contour detection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5F6640-8FE8-3CF4-DBA2-F8BFA44ECC14}"/>
                  </a:ext>
                </a:extLst>
              </p:cNvPr>
              <p:cNvSpPr txBox="1"/>
              <p:nvPr/>
            </p:nvSpPr>
            <p:spPr>
              <a:xfrm>
                <a:off x="307707" y="1310637"/>
                <a:ext cx="4209585" cy="37862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600" b="1" dirty="0">
                    <a:latin typeface="Candara" panose="020E0502030303020204" pitchFamily="34" charset="0"/>
                  </a:rPr>
                  <a:t> 1. Automatic Template Matching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Candara" panose="020E0502030303020204" pitchFamily="34" charset="0"/>
                  </a:rPr>
                  <a:t>Compared test PCB with golden templates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Candara" panose="020E0502030303020204" pitchFamily="34" charset="0"/>
                  </a:rPr>
                  <a:t>Used correlation-based matching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Candara" panose="020E0502030303020204" pitchFamily="34" charset="0"/>
                  </a:rPr>
                  <a:t>Selected best matching template automatically</a:t>
                </a:r>
              </a:p>
              <a:p>
                <a:r>
                  <a:rPr lang="en-IN" sz="1600" b="1" dirty="0">
                    <a:latin typeface="Candara" panose="020E0502030303020204" pitchFamily="34" charset="0"/>
                  </a:rPr>
                  <a:t> 2. Contrast Enhancement (CLAHE)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Candara" panose="020E0502030303020204" pitchFamily="34" charset="0"/>
                  </a:rPr>
                  <a:t>Applied </a:t>
                </a:r>
                <a:r>
                  <a:rPr lang="en-IN" sz="1600" b="1" dirty="0">
                    <a:latin typeface="Candara" panose="020E0502030303020204" pitchFamily="34" charset="0"/>
                  </a:rPr>
                  <a:t>Contrast Limited Adaptive Histogram Equalization</a:t>
                </a:r>
                <a:endParaRPr lang="en-IN" sz="1600" dirty="0">
                  <a:latin typeface="Candara" panose="020E0502030303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Candara" panose="020E0502030303020204" pitchFamily="34" charset="0"/>
                  </a:rPr>
                  <a:t>Enhanced tiny copper defects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Candara" panose="020E0502030303020204" pitchFamily="34" charset="0"/>
                  </a:rPr>
                  <a:t>Improved visibility of subtle defects like </a:t>
                </a:r>
                <a:r>
                  <a:rPr lang="en-IN" sz="1600" i="1" dirty="0">
                    <a:latin typeface="Candara" panose="020E0502030303020204" pitchFamily="34" charset="0"/>
                  </a:rPr>
                  <a:t>Mouse Bite</a:t>
                </a:r>
                <a:endParaRPr lang="en-IN" sz="1600" dirty="0">
                  <a:latin typeface="Candara" panose="020E0502030303020204" pitchFamily="34" charset="0"/>
                </a:endParaRPr>
              </a:p>
              <a:p>
                <a:r>
                  <a:rPr lang="en-IN" sz="1600" b="1" dirty="0">
                    <a:latin typeface="Candara" panose="020E0502030303020204" pitchFamily="34" charset="0"/>
                  </a:rPr>
                  <a:t> 3. Image Subtraction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600">
                        <a:latin typeface="Candara" panose="020E0502030303020204" pitchFamily="34" charset="0"/>
                      </a:rPr>
                      <m:t>Difference</m:t>
                    </m:r>
                    <m:r>
                      <m:rPr>
                        <m:nor/>
                      </m:rPr>
                      <a:rPr lang="en-IN" sz="1600" i="1">
                        <a:latin typeface="Candara" panose="020E0502030303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IN" sz="1600" i="1">
                        <a:latin typeface="Candara" panose="020E0502030303020204" pitchFamily="34" charset="0"/>
                      </a:rPr>
                      <m:t>Image</m:t>
                    </m:r>
                    <m:r>
                      <a:rPr lang="en-IN" sz="1600">
                        <a:latin typeface="Cambria Math" panose="02040503050406030204" pitchFamily="18" charset="0"/>
                      </a:rPr>
                      <m:t>=∣</m:t>
                    </m:r>
                    <m:r>
                      <a:rPr lang="en-IN" sz="1600" i="1">
                        <a:latin typeface="Cambria Math" panose="02040503050406030204" pitchFamily="18" charset="0"/>
                      </a:rPr>
                      <m:t>𝑇𝑒𝑚𝑝𝑙𝑎𝑡𝑒</m:t>
                    </m:r>
                    <m:r>
                      <a:rPr lang="en-IN" sz="16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1600" i="1">
                        <a:latin typeface="Cambria Math" panose="02040503050406030204" pitchFamily="18" charset="0"/>
                      </a:rPr>
                      <m:t>𝑇𝑒𝑠𝑡</m:t>
                    </m:r>
                    <m:r>
                      <a:rPr lang="en-IN" sz="160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endParaRPr lang="en-IN" sz="1600" dirty="0">
                  <a:latin typeface="Candara" panose="020E0502030303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Candara" panose="020E0502030303020204" pitchFamily="34" charset="0"/>
                  </a:rPr>
                  <a:t>Highlighted defective regions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Candara" panose="020E0502030303020204" pitchFamily="34" charset="0"/>
                  </a:rPr>
                  <a:t>Removed common background structures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5F6640-8FE8-3CF4-DBA2-F8BFA44EC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07" y="1310637"/>
                <a:ext cx="4209585" cy="3786229"/>
              </a:xfrm>
              <a:prstGeom prst="rect">
                <a:avLst/>
              </a:prstGeom>
              <a:blipFill>
                <a:blip r:embed="rId2"/>
                <a:stretch>
                  <a:fillRect l="-724" t="-483" b="-11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7711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6338F-306A-556A-AB6C-8F82ADF45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2683" y="391800"/>
            <a:ext cx="7634868" cy="572700"/>
          </a:xfrm>
        </p:spPr>
        <p:txBody>
          <a:bodyPr/>
          <a:lstStyle/>
          <a:p>
            <a:r>
              <a:rPr lang="en-US" sz="2400" dirty="0"/>
              <a:t>Exploratory Data Analysis and Visualization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7EE4BE-735B-0AFE-5F71-C8502DFAD85E}"/>
              </a:ext>
            </a:extLst>
          </p:cNvPr>
          <p:cNvSpPr txBox="1"/>
          <p:nvPr/>
        </p:nvSpPr>
        <p:spPr>
          <a:xfrm>
            <a:off x="278781" y="1697214"/>
            <a:ext cx="4181707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ndara" panose="020E0502030303020204" pitchFamily="34" charset="0"/>
              </a:rPr>
              <a:t>📈 Dataset Analysis:</a:t>
            </a:r>
          </a:p>
          <a:p>
            <a:r>
              <a:rPr lang="en-US" sz="1500" dirty="0">
                <a:latin typeface="Candara" panose="020E0502030303020204" pitchFamily="34" charset="0"/>
              </a:rPr>
              <a:t>Before training the model, we analyzed the dataset to understand: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ndara" panose="020E0502030303020204" pitchFamily="34" charset="0"/>
              </a:rPr>
              <a:t>Class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ndara" panose="020E0502030303020204" pitchFamily="34" charset="0"/>
              </a:rPr>
              <a:t>Defect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ndara" panose="020E0502030303020204" pitchFamily="34" charset="0"/>
              </a:rPr>
              <a:t>Visual characteristics of each defect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ndara" panose="020E0502030303020204" pitchFamily="34" charset="0"/>
              </a:rPr>
              <a:t>ROI size variations</a:t>
            </a:r>
          </a:p>
          <a:p>
            <a:r>
              <a:rPr lang="en-US" sz="1600" b="1" dirty="0">
                <a:latin typeface="Candara" panose="020E0502030303020204" pitchFamily="34" charset="0"/>
              </a:rPr>
              <a:t> Class Distribution: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ndara" panose="020E0502030303020204" pitchFamily="34" charset="0"/>
              </a:rPr>
              <a:t>Observed imbalance in some defect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ndara" panose="020E0502030303020204" pitchFamily="34" charset="0"/>
              </a:rPr>
              <a:t>Ensured proper train–validation split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ndara" panose="020E0502030303020204" pitchFamily="34" charset="0"/>
              </a:rPr>
              <a:t>Used data augmentation to improve generalization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D1AA6F-6B31-C336-4976-AACCE26D55F4}"/>
              </a:ext>
            </a:extLst>
          </p:cNvPr>
          <p:cNvSpPr txBox="1"/>
          <p:nvPr/>
        </p:nvSpPr>
        <p:spPr>
          <a:xfrm>
            <a:off x="4460488" y="1350965"/>
            <a:ext cx="4609171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Candara" panose="020E0502030303020204" pitchFamily="34" charset="0"/>
              </a:rPr>
              <a:t>Sample ROI Visualizations:</a:t>
            </a:r>
          </a:p>
          <a:p>
            <a:pPr>
              <a:buNone/>
            </a:pPr>
            <a:r>
              <a:rPr lang="en-IN" sz="1500" dirty="0">
                <a:latin typeface="Candara" panose="020E0502030303020204" pitchFamily="34" charset="0"/>
              </a:rPr>
              <a:t>We visualized cropped defect regions extracted from masks: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Candara" panose="020E0502030303020204" pitchFamily="34" charset="0"/>
              </a:rPr>
              <a:t>Each ROI resized to 128×128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Candara" panose="020E0502030303020204" pitchFamily="34" charset="0"/>
              </a:rPr>
              <a:t>Padding added for contextual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Candara" panose="020E0502030303020204" pitchFamily="34" charset="0"/>
              </a:rPr>
              <a:t>Normalized before feeding into CNN</a:t>
            </a:r>
          </a:p>
          <a:p>
            <a:pPr>
              <a:buNone/>
            </a:pPr>
            <a:r>
              <a:rPr lang="en-IN" sz="1600" b="1" dirty="0">
                <a:latin typeface="Candara" panose="020E0502030303020204" pitchFamily="34" charset="0"/>
              </a:rPr>
              <a:t>Mask and Contour Visualization: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Candara" panose="020E0502030303020204" pitchFamily="34" charset="0"/>
              </a:rPr>
              <a:t>Contours detected using OpenCV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Candara" panose="020E0502030303020204" pitchFamily="34" charset="0"/>
              </a:rPr>
              <a:t>Bounding boxes drawn around defects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Candara" panose="020E0502030303020204" pitchFamily="34" charset="0"/>
              </a:rPr>
              <a:t>Verified correctness visually</a:t>
            </a:r>
          </a:p>
          <a:p>
            <a:pPr>
              <a:buNone/>
            </a:pPr>
            <a:endParaRPr lang="en-IN" sz="1500" dirty="0">
              <a:latin typeface="Candara" panose="020E0502030303020204" pitchFamily="34" charset="0"/>
            </a:endParaRPr>
          </a:p>
          <a:p>
            <a:pPr>
              <a:buNone/>
            </a:pPr>
            <a:r>
              <a:rPr lang="en-IN" sz="1600" b="1" dirty="0">
                <a:latin typeface="Candara" panose="020E0502030303020204" pitchFamily="34" charset="0"/>
              </a:rPr>
              <a:t>Insight from EDA:</a:t>
            </a:r>
          </a:p>
          <a:p>
            <a:pPr>
              <a:buNone/>
            </a:pPr>
            <a:r>
              <a:rPr lang="en-IN" sz="1500" dirty="0">
                <a:latin typeface="Candara" panose="020E0502030303020204" pitchFamily="34" charset="0"/>
              </a:rPr>
              <a:t>✔ Defects vary in shape and size</a:t>
            </a:r>
            <a:br>
              <a:rPr lang="en-IN" sz="1500" dirty="0">
                <a:latin typeface="Candara" panose="020E0502030303020204" pitchFamily="34" charset="0"/>
              </a:rPr>
            </a:br>
            <a:r>
              <a:rPr lang="en-IN" sz="1500" dirty="0">
                <a:latin typeface="Candara" panose="020E0502030303020204" pitchFamily="34" charset="0"/>
              </a:rPr>
              <a:t>✔ Some defects are subtle (e.g., Mouse Bite)</a:t>
            </a:r>
            <a:br>
              <a:rPr lang="en-IN" sz="1500" dirty="0">
                <a:latin typeface="Candara" panose="020E0502030303020204" pitchFamily="34" charset="0"/>
              </a:rPr>
            </a:br>
            <a:r>
              <a:rPr lang="en-IN" sz="1500" dirty="0">
                <a:latin typeface="Candara" panose="020E0502030303020204" pitchFamily="34" charset="0"/>
              </a:rPr>
              <a:t>✔ Proper preprocessing is crucial for classification accuracy</a:t>
            </a:r>
          </a:p>
        </p:txBody>
      </p:sp>
    </p:spTree>
    <p:extLst>
      <p:ext uri="{BB962C8B-B14F-4D97-AF65-F5344CB8AC3E}">
        <p14:creationId xmlns:p14="http://schemas.microsoft.com/office/powerpoint/2010/main" val="4276037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7CC46-7155-7250-88E2-A71223E60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722" y="617134"/>
            <a:ext cx="7704000" cy="572700"/>
          </a:xfrm>
        </p:spPr>
        <p:txBody>
          <a:bodyPr/>
          <a:lstStyle/>
          <a:p>
            <a:r>
              <a:rPr lang="en-IN" dirty="0"/>
              <a:t>Model Architecture and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6545C1-5B3E-F57F-5005-69AB915B06AA}"/>
              </a:ext>
            </a:extLst>
          </p:cNvPr>
          <p:cNvSpPr txBox="1"/>
          <p:nvPr/>
        </p:nvSpPr>
        <p:spPr>
          <a:xfrm>
            <a:off x="170318" y="1434108"/>
            <a:ext cx="630043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Candara" panose="020E0502030303020204" pitchFamily="34" charset="0"/>
              </a:rPr>
              <a:t> Model Used: EfficientNet-B0 (Transfer Learning)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Pretrained on </a:t>
            </a:r>
            <a:r>
              <a:rPr lang="en-IN" sz="1600" b="1" dirty="0">
                <a:latin typeface="Candara" panose="020E0502030303020204" pitchFamily="34" charset="0"/>
              </a:rPr>
              <a:t>ImageNet</a:t>
            </a:r>
            <a:endParaRPr lang="en-IN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Fine-tuned for </a:t>
            </a:r>
            <a:r>
              <a:rPr lang="en-IN" sz="1600" b="1" dirty="0">
                <a:latin typeface="Candara" panose="020E0502030303020204" pitchFamily="34" charset="0"/>
              </a:rPr>
              <a:t>6 PCB defect classes</a:t>
            </a:r>
            <a:endParaRPr lang="en-IN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Modified final fully connected layer</a:t>
            </a:r>
            <a:br>
              <a:rPr lang="en-IN" sz="1600" dirty="0">
                <a:latin typeface="Candara" panose="020E0502030303020204" pitchFamily="34" charset="0"/>
              </a:rPr>
            </a:br>
            <a:endParaRPr lang="en-IN" sz="1600" dirty="0">
              <a:latin typeface="Candara" panose="020E0502030303020204" pitchFamily="34" charset="0"/>
            </a:endParaRPr>
          </a:p>
          <a:p>
            <a:pPr>
              <a:buNone/>
            </a:pPr>
            <a:r>
              <a:rPr lang="en-IN" sz="1600" b="1" dirty="0">
                <a:latin typeface="Candara" panose="020E0502030303020204" pitchFamily="34" charset="0"/>
              </a:rPr>
              <a:t> Architecture Overview</a:t>
            </a:r>
          </a:p>
          <a:p>
            <a:pPr>
              <a:buNone/>
            </a:pPr>
            <a:r>
              <a:rPr lang="en-IN" sz="1600" dirty="0">
                <a:latin typeface="Candara" panose="020E0502030303020204" pitchFamily="34" charset="0"/>
              </a:rPr>
              <a:t>Input (128×128 ROI)</a:t>
            </a:r>
            <a:br>
              <a:rPr lang="en-IN" sz="1600" dirty="0">
                <a:latin typeface="Candara" panose="020E0502030303020204" pitchFamily="34" charset="0"/>
              </a:rPr>
            </a:br>
            <a:r>
              <a:rPr lang="en-IN" sz="1600" dirty="0">
                <a:latin typeface="Candara" panose="020E0502030303020204" pitchFamily="34" charset="0"/>
              </a:rPr>
              <a:t>↓</a:t>
            </a:r>
            <a:br>
              <a:rPr lang="en-IN" sz="1600" dirty="0">
                <a:latin typeface="Candara" panose="020E0502030303020204" pitchFamily="34" charset="0"/>
              </a:rPr>
            </a:br>
            <a:r>
              <a:rPr lang="en-IN" sz="1600" dirty="0">
                <a:latin typeface="Candara" panose="020E0502030303020204" pitchFamily="34" charset="0"/>
              </a:rPr>
              <a:t>EfficientNet Feature Extractor</a:t>
            </a:r>
            <a:br>
              <a:rPr lang="en-IN" sz="1600" dirty="0">
                <a:latin typeface="Candara" panose="020E0502030303020204" pitchFamily="34" charset="0"/>
              </a:rPr>
            </a:br>
            <a:r>
              <a:rPr lang="en-IN" sz="1600" dirty="0">
                <a:latin typeface="Candara" panose="020E0502030303020204" pitchFamily="34" charset="0"/>
              </a:rPr>
              <a:t>↓</a:t>
            </a:r>
            <a:br>
              <a:rPr lang="en-IN" sz="1600" dirty="0">
                <a:latin typeface="Candara" panose="020E0502030303020204" pitchFamily="34" charset="0"/>
              </a:rPr>
            </a:br>
            <a:r>
              <a:rPr lang="en-IN" sz="1600" dirty="0">
                <a:latin typeface="Candara" panose="020E0502030303020204" pitchFamily="34" charset="0"/>
              </a:rPr>
              <a:t>Global Average Pooling</a:t>
            </a:r>
            <a:br>
              <a:rPr lang="en-IN" sz="1600" dirty="0">
                <a:latin typeface="Candara" panose="020E0502030303020204" pitchFamily="34" charset="0"/>
              </a:rPr>
            </a:br>
            <a:r>
              <a:rPr lang="en-IN" sz="1600" dirty="0">
                <a:latin typeface="Candara" panose="020E0502030303020204" pitchFamily="34" charset="0"/>
              </a:rPr>
              <a:t>↓</a:t>
            </a:r>
            <a:br>
              <a:rPr lang="en-IN" sz="1600" dirty="0">
                <a:latin typeface="Candara" panose="020E0502030303020204" pitchFamily="34" charset="0"/>
              </a:rPr>
            </a:br>
            <a:r>
              <a:rPr lang="en-IN" sz="1600" dirty="0">
                <a:latin typeface="Candara" panose="020E0502030303020204" pitchFamily="34" charset="0"/>
              </a:rPr>
              <a:t>Fully Connected Layer (6 classes)</a:t>
            </a:r>
            <a:br>
              <a:rPr lang="en-IN" sz="1600" dirty="0">
                <a:latin typeface="Candara" panose="020E0502030303020204" pitchFamily="34" charset="0"/>
              </a:rPr>
            </a:br>
            <a:r>
              <a:rPr lang="en-IN" sz="1600" dirty="0">
                <a:latin typeface="Candara" panose="020E0502030303020204" pitchFamily="34" charset="0"/>
              </a:rPr>
              <a:t>↓</a:t>
            </a:r>
            <a:br>
              <a:rPr lang="en-IN" sz="1600" dirty="0">
                <a:latin typeface="Candara" panose="020E0502030303020204" pitchFamily="34" charset="0"/>
              </a:rPr>
            </a:br>
            <a:r>
              <a:rPr lang="en-IN" sz="1600" dirty="0" err="1">
                <a:latin typeface="Candara" panose="020E0502030303020204" pitchFamily="34" charset="0"/>
              </a:rPr>
              <a:t>Softmax</a:t>
            </a:r>
            <a:r>
              <a:rPr lang="en-IN" sz="1600" dirty="0">
                <a:latin typeface="Candara" panose="020E0502030303020204" pitchFamily="34" charset="0"/>
              </a:rPr>
              <a:t> 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43F40E-BF46-E536-D65F-5FFC3A8F322B}"/>
              </a:ext>
            </a:extLst>
          </p:cNvPr>
          <p:cNvSpPr txBox="1"/>
          <p:nvPr/>
        </p:nvSpPr>
        <p:spPr>
          <a:xfrm>
            <a:off x="4990503" y="1189834"/>
            <a:ext cx="45720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1600" b="1" dirty="0">
                <a:latin typeface="Candara" panose="020E0502030303020204" pitchFamily="34" charset="0"/>
              </a:rPr>
              <a:t>Training Configuration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Loss Function: Cross Entropy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Optimizer: Adam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Learning Rate: 0.0001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Early Stopping enabled</a:t>
            </a:r>
          </a:p>
          <a:p>
            <a:pPr>
              <a:buNone/>
            </a:pPr>
            <a:br>
              <a:rPr lang="en-IN" sz="1600" dirty="0">
                <a:latin typeface="Candara" panose="020E0502030303020204" pitchFamily="34" charset="0"/>
              </a:rPr>
            </a:br>
            <a:endParaRPr lang="en-IN" sz="1600" dirty="0">
              <a:latin typeface="Candara" panose="020E0502030303020204" pitchFamily="34" charset="0"/>
            </a:endParaRPr>
          </a:p>
          <a:p>
            <a:pPr>
              <a:buNone/>
            </a:pPr>
            <a:r>
              <a:rPr lang="en-IN" sz="1600" b="1" dirty="0">
                <a:latin typeface="Candara" panose="020E0502030303020204" pitchFamily="34" charset="0"/>
              </a:rPr>
              <a:t> Why EfficientNet?</a:t>
            </a:r>
          </a:p>
          <a:p>
            <a:pPr>
              <a:buNone/>
            </a:pPr>
            <a:r>
              <a:rPr lang="en-IN" sz="1600" dirty="0">
                <a:latin typeface="Candara" panose="020E0502030303020204" pitchFamily="34" charset="0"/>
              </a:rPr>
              <a:t>✔ Balanced depth, width, and resolution</a:t>
            </a:r>
            <a:br>
              <a:rPr lang="en-IN" sz="1600" dirty="0">
                <a:latin typeface="Candara" panose="020E0502030303020204" pitchFamily="34" charset="0"/>
              </a:rPr>
            </a:br>
            <a:r>
              <a:rPr lang="en-IN" sz="1600" dirty="0">
                <a:latin typeface="Candara" panose="020E0502030303020204" pitchFamily="34" charset="0"/>
              </a:rPr>
              <a:t>✔ High accuracy with fewer parameters</a:t>
            </a:r>
            <a:br>
              <a:rPr lang="en-IN" sz="1600" dirty="0">
                <a:latin typeface="Candara" panose="020E0502030303020204" pitchFamily="34" charset="0"/>
              </a:rPr>
            </a:br>
            <a:r>
              <a:rPr lang="en-IN" sz="1600" dirty="0">
                <a:latin typeface="Candara" panose="020E0502030303020204" pitchFamily="34" charset="0"/>
              </a:rPr>
              <a:t>✔ Fast inference suitable for web deployment</a:t>
            </a:r>
          </a:p>
        </p:txBody>
      </p:sp>
    </p:spTree>
    <p:extLst>
      <p:ext uri="{BB962C8B-B14F-4D97-AF65-F5344CB8AC3E}">
        <p14:creationId xmlns:p14="http://schemas.microsoft.com/office/powerpoint/2010/main" val="3601324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7D1C8-E31D-589B-F059-B2FB0E131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600" y="452459"/>
            <a:ext cx="7704000" cy="572700"/>
          </a:xfrm>
        </p:spPr>
        <p:txBody>
          <a:bodyPr/>
          <a:lstStyle/>
          <a:p>
            <a:r>
              <a:rPr lang="en-US" sz="2400" dirty="0"/>
              <a:t>Experimental Setup and Training Details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AAD45-E1BA-24E7-BECB-406372D2ADAF}"/>
              </a:ext>
            </a:extLst>
          </p:cNvPr>
          <p:cNvSpPr txBox="1"/>
          <p:nvPr/>
        </p:nvSpPr>
        <p:spPr>
          <a:xfrm>
            <a:off x="2157332" y="1230182"/>
            <a:ext cx="4572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Candara" panose="020E0502030303020204" pitchFamily="34" charset="0"/>
              </a:rPr>
              <a:t>Training Configuration: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Image Size: </a:t>
            </a:r>
            <a:r>
              <a:rPr lang="en-IN" sz="1600" b="1" dirty="0">
                <a:latin typeface="Candara" panose="020E0502030303020204" pitchFamily="34" charset="0"/>
              </a:rPr>
              <a:t>128 × 128</a:t>
            </a:r>
            <a:endParaRPr lang="en-IN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Batch Size: </a:t>
            </a:r>
            <a:r>
              <a:rPr lang="en-IN" sz="1600" b="1" dirty="0">
                <a:latin typeface="Candara" panose="020E0502030303020204" pitchFamily="34" charset="0"/>
              </a:rPr>
              <a:t>32</a:t>
            </a:r>
            <a:endParaRPr lang="en-IN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Optimizer: </a:t>
            </a:r>
            <a:r>
              <a:rPr lang="en-IN" sz="1600" b="1" dirty="0">
                <a:latin typeface="Candara" panose="020E0502030303020204" pitchFamily="34" charset="0"/>
              </a:rPr>
              <a:t>Adam</a:t>
            </a:r>
            <a:endParaRPr lang="en-IN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Learning Rate: </a:t>
            </a:r>
            <a:r>
              <a:rPr lang="en-IN" sz="1600" b="1" dirty="0">
                <a:latin typeface="Candara" panose="020E0502030303020204" pitchFamily="34" charset="0"/>
              </a:rPr>
              <a:t>0.0001</a:t>
            </a:r>
            <a:endParaRPr lang="en-IN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Loss Function: </a:t>
            </a:r>
            <a:r>
              <a:rPr lang="en-IN" sz="1600" b="1" dirty="0">
                <a:latin typeface="Candara" panose="020E0502030303020204" pitchFamily="34" charset="0"/>
              </a:rPr>
              <a:t>Cross Entropy</a:t>
            </a:r>
            <a:endParaRPr lang="en-IN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Early Stopping: Enabled</a:t>
            </a:r>
          </a:p>
          <a:p>
            <a:pPr>
              <a:buNone/>
            </a:pPr>
            <a:r>
              <a:rPr lang="en-IN" sz="1600" b="1" dirty="0">
                <a:latin typeface="Candara" panose="020E0502030303020204" pitchFamily="34" charset="0"/>
              </a:rPr>
              <a:t>Data Split: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80%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20% Validation</a:t>
            </a:r>
          </a:p>
          <a:p>
            <a:pPr>
              <a:buNone/>
            </a:pPr>
            <a:r>
              <a:rPr lang="en-IN" sz="1600" b="1" dirty="0">
                <a:latin typeface="Candara" panose="020E0502030303020204" pitchFamily="34" charset="0"/>
              </a:rPr>
              <a:t>Training Performance: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Final Test Accuracy: </a:t>
            </a:r>
            <a:r>
              <a:rPr lang="en-IN" sz="1600" b="1" dirty="0">
                <a:latin typeface="Candara" panose="020E0502030303020204" pitchFamily="34" charset="0"/>
              </a:rPr>
              <a:t>~99%</a:t>
            </a:r>
            <a:endParaRPr lang="en-IN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Stable convergence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Low validation loss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Minimal overfitting</a:t>
            </a:r>
          </a:p>
        </p:txBody>
      </p:sp>
    </p:spTree>
    <p:extLst>
      <p:ext uri="{BB962C8B-B14F-4D97-AF65-F5344CB8AC3E}">
        <p14:creationId xmlns:p14="http://schemas.microsoft.com/office/powerpoint/2010/main" val="3016696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31417-E9B6-7C5C-681A-EDEC1449C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and Limitations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EC9C0-9663-F72B-255A-4151E0DB3FB7}"/>
              </a:ext>
            </a:extLst>
          </p:cNvPr>
          <p:cNvSpPr txBox="1"/>
          <p:nvPr/>
        </p:nvSpPr>
        <p:spPr>
          <a:xfrm>
            <a:off x="2060308" y="1319296"/>
            <a:ext cx="617710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andara" panose="020E0502030303020204" pitchFamily="34" charset="0"/>
              </a:rPr>
              <a:t>Challenges Faced: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Subtle defects like </a:t>
            </a:r>
            <a:r>
              <a:rPr lang="en-US" sz="1600" b="1" dirty="0">
                <a:latin typeface="Candara" panose="020E0502030303020204" pitchFamily="34" charset="0"/>
              </a:rPr>
              <a:t>Mouse Bite</a:t>
            </a:r>
            <a:r>
              <a:rPr lang="en-US" sz="1600" dirty="0">
                <a:latin typeface="Candara" panose="020E0502030303020204" pitchFamily="34" charset="0"/>
              </a:rPr>
              <a:t> were harder to detect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Threshold tuning required for accurate mask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Template mismatch could produce false positives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Class imbalance in dataset</a:t>
            </a:r>
          </a:p>
          <a:p>
            <a:pPr>
              <a:buNone/>
            </a:pPr>
            <a:r>
              <a:rPr lang="en-US" sz="1600" b="1" dirty="0">
                <a:latin typeface="Candara" panose="020E0502030303020204" pitchFamily="34" charset="0"/>
              </a:rPr>
              <a:t>Technical Limitations: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Sensitive to lighting variations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Requires correct template for accurate subtraction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Performance depends on mask quality</a:t>
            </a:r>
          </a:p>
          <a:p>
            <a:pPr>
              <a:buNone/>
            </a:pPr>
            <a:r>
              <a:rPr lang="en-US" sz="1600" b="1" dirty="0">
                <a:latin typeface="Candara" panose="020E0502030303020204" pitchFamily="34" charset="0"/>
              </a:rPr>
              <a:t>Learning Outcome: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Importance of preprocessing in computer vision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Transfer learning improves performance significantly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End-to-end system integration is complex but powerful</a:t>
            </a:r>
          </a:p>
        </p:txBody>
      </p:sp>
    </p:spTree>
    <p:extLst>
      <p:ext uri="{BB962C8B-B14F-4D97-AF65-F5344CB8AC3E}">
        <p14:creationId xmlns:p14="http://schemas.microsoft.com/office/powerpoint/2010/main" val="2881478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14B40-0723-855B-DD22-5467F8E4F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180" y="452459"/>
            <a:ext cx="7704000" cy="572700"/>
          </a:xfrm>
        </p:spPr>
        <p:txBody>
          <a:bodyPr/>
          <a:lstStyle/>
          <a:p>
            <a:r>
              <a:rPr lang="en-IN" dirty="0"/>
              <a:t>Future Work and Scope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64E79E-5E46-30FF-BBE5-1C7B1D1E4E44}"/>
              </a:ext>
            </a:extLst>
          </p:cNvPr>
          <p:cNvSpPr txBox="1"/>
          <p:nvPr/>
        </p:nvSpPr>
        <p:spPr>
          <a:xfrm>
            <a:off x="2087946" y="1367054"/>
            <a:ext cx="618854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 </a:t>
            </a:r>
            <a:r>
              <a:rPr lang="en-IN" sz="1600" b="1" dirty="0">
                <a:latin typeface="Candara" panose="020E0502030303020204" pitchFamily="34" charset="0"/>
                <a:cs typeface="Times New Roman" panose="02020603050405020304" pitchFamily="18" charset="0"/>
              </a:rPr>
              <a:t>Future Improvements: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Deploy system to </a:t>
            </a:r>
            <a:r>
              <a:rPr lang="en-IN" sz="1600" b="1" dirty="0">
                <a:latin typeface="Candara" panose="020E0502030303020204" pitchFamily="34" charset="0"/>
                <a:cs typeface="Times New Roman" panose="02020603050405020304" pitchFamily="18" charset="0"/>
              </a:rPr>
              <a:t>cloud (AWS / Azure)</a:t>
            </a:r>
            <a:endParaRPr lang="en-IN" sz="1600" dirty="0"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Enable </a:t>
            </a:r>
            <a:r>
              <a:rPr lang="en-IN" sz="1600" b="1" dirty="0">
                <a:latin typeface="Candara" panose="020E0502030303020204" pitchFamily="34" charset="0"/>
                <a:cs typeface="Times New Roman" panose="02020603050405020304" pitchFamily="18" charset="0"/>
              </a:rPr>
              <a:t>real-time camera-based PCB inspection</a:t>
            </a:r>
            <a:endParaRPr lang="en-IN" sz="1600" dirty="0"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Add </a:t>
            </a:r>
            <a:r>
              <a:rPr lang="en-IN" sz="1600" b="1" dirty="0">
                <a:latin typeface="Candara" panose="020E0502030303020204" pitchFamily="34" charset="0"/>
                <a:cs typeface="Times New Roman" panose="02020603050405020304" pitchFamily="18" charset="0"/>
              </a:rPr>
              <a:t>batch processing for industrial use</a:t>
            </a:r>
            <a:endParaRPr lang="en-IN" sz="1600" dirty="0"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Implement </a:t>
            </a:r>
            <a:r>
              <a:rPr lang="en-IN" sz="1600" b="1" dirty="0">
                <a:latin typeface="Candara" panose="020E0502030303020204" pitchFamily="34" charset="0"/>
                <a:cs typeface="Times New Roman" panose="02020603050405020304" pitchFamily="18" charset="0"/>
              </a:rPr>
              <a:t>defect severity scoring</a:t>
            </a:r>
            <a:endParaRPr lang="en-IN" sz="1600" dirty="0"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Improve mask generation using deep segmentation models</a:t>
            </a:r>
          </a:p>
          <a:p>
            <a:pPr>
              <a:buNone/>
            </a:pPr>
            <a:r>
              <a:rPr lang="en-IN" sz="1600" b="1" dirty="0">
                <a:latin typeface="Candara" panose="020E050203030302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Candara" panose="020E0502030303020204" pitchFamily="34" charset="0"/>
                <a:cs typeface="Times New Roman" panose="02020603050405020304" pitchFamily="18" charset="0"/>
              </a:rPr>
              <a:t>Scalability: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Extend to multi-layer PCB inspection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Support additional defect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Optimize inference time further</a:t>
            </a:r>
          </a:p>
          <a:p>
            <a:pPr>
              <a:buNone/>
            </a:pPr>
            <a:r>
              <a:rPr lang="en-IN" sz="1600" b="1" dirty="0">
                <a:latin typeface="Candara" panose="020E0502030303020204" pitchFamily="34" charset="0"/>
                <a:cs typeface="Times New Roman" panose="02020603050405020304" pitchFamily="18" charset="0"/>
              </a:rPr>
              <a:t> Vision:</a:t>
            </a:r>
          </a:p>
          <a:p>
            <a:pPr>
              <a:buNone/>
            </a:pPr>
            <a:r>
              <a:rPr lang="en-IN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To develop a fully automated, production-ready PCB inspection system for industrial manufacturing environments.</a:t>
            </a:r>
          </a:p>
        </p:txBody>
      </p:sp>
    </p:spTree>
    <p:extLst>
      <p:ext uri="{BB962C8B-B14F-4D97-AF65-F5344CB8AC3E}">
        <p14:creationId xmlns:p14="http://schemas.microsoft.com/office/powerpoint/2010/main" val="998076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70345-E5FE-7EE3-482F-0EB96A716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746E22-CA38-27ED-2F24-E03576E2C22D}"/>
              </a:ext>
            </a:extLst>
          </p:cNvPr>
          <p:cNvSpPr txBox="1"/>
          <p:nvPr/>
        </p:nvSpPr>
        <p:spPr>
          <a:xfrm>
            <a:off x="568711" y="1173089"/>
            <a:ext cx="7400693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Candara" panose="020E0502030303020204" pitchFamily="34" charset="0"/>
              </a:rPr>
              <a:t>ROI-Based Feature Preparation for CNN: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Contour-based defect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Bounding box extraction with padding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Cropped ROIs resized to </a:t>
            </a:r>
            <a:r>
              <a:rPr lang="en-IN" sz="1600" b="1" dirty="0">
                <a:latin typeface="Candara" panose="020E0502030303020204" pitchFamily="34" charset="0"/>
              </a:rPr>
              <a:t>128×128</a:t>
            </a:r>
            <a:endParaRPr lang="en-IN" sz="1600" dirty="0">
              <a:latin typeface="Candara" panose="020E05020303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Normalized using ImageNet statistics</a:t>
            </a:r>
          </a:p>
          <a:p>
            <a:r>
              <a:rPr lang="en-IN" sz="1600" b="1" dirty="0">
                <a:latin typeface="Candara" panose="020E0502030303020204" pitchFamily="34" charset="0"/>
              </a:rPr>
              <a:t>Data Augmentation: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Horizontal &amp; Vertical Flip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Random Rotation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Candara" panose="020E0502030303020204" pitchFamily="34" charset="0"/>
              </a:rPr>
              <a:t>Color</a:t>
            </a:r>
            <a:r>
              <a:rPr lang="en-IN" sz="1600" dirty="0">
                <a:latin typeface="Candara" panose="020E0502030303020204" pitchFamily="34" charset="0"/>
              </a:rPr>
              <a:t> Jitter</a:t>
            </a:r>
          </a:p>
          <a:p>
            <a:r>
              <a:rPr lang="en-IN" sz="1600" dirty="0">
                <a:latin typeface="Candara" panose="020E0502030303020204" pitchFamily="34" charset="0"/>
              </a:rPr>
              <a:t>✔ Improves generalization</a:t>
            </a:r>
            <a:br>
              <a:rPr lang="en-IN" sz="1600" dirty="0">
                <a:latin typeface="Candara" panose="020E0502030303020204" pitchFamily="34" charset="0"/>
              </a:rPr>
            </a:br>
            <a:r>
              <a:rPr lang="en-IN" sz="1600" dirty="0">
                <a:latin typeface="Candara" panose="020E0502030303020204" pitchFamily="34" charset="0"/>
              </a:rPr>
              <a:t>✔ Reduces overfitting</a:t>
            </a:r>
          </a:p>
          <a:p>
            <a:endParaRPr lang="en-IN" sz="1600" dirty="0">
              <a:latin typeface="Candara" panose="020E0502030303020204" pitchFamily="34" charset="0"/>
            </a:endParaRPr>
          </a:p>
          <a:p>
            <a:r>
              <a:rPr lang="en-IN" sz="1600" b="1" dirty="0">
                <a:latin typeface="Candara" panose="020E0502030303020204" pitchFamily="34" charset="0"/>
              </a:rPr>
              <a:t>Final Input to 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Clean defect-focused ROIs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Standardized format for EfficientNet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8103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C5FDA-2FB5-FC44-6543-3BBF183CE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000" y="471020"/>
            <a:ext cx="7704000" cy="572700"/>
          </a:xfrm>
        </p:spPr>
        <p:txBody>
          <a:bodyPr/>
          <a:lstStyle/>
          <a:p>
            <a:r>
              <a:rPr lang="en-IN" sz="3200" dirty="0"/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D160D8-9F27-DAB6-0547-AA22677F0B3F}"/>
              </a:ext>
            </a:extLst>
          </p:cNvPr>
          <p:cNvSpPr txBox="1"/>
          <p:nvPr/>
        </p:nvSpPr>
        <p:spPr>
          <a:xfrm>
            <a:off x="2075985" y="1111627"/>
            <a:ext cx="499203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latin typeface="Candara" panose="020E0502030303020204" pitchFamily="34" charset="0"/>
              </a:rPr>
              <a:t>System Workflow:</a:t>
            </a:r>
          </a:p>
          <a:p>
            <a:r>
              <a:rPr lang="en-IN" sz="1600" dirty="0">
                <a:latin typeface="Candara" panose="020E0502030303020204" pitchFamily="34" charset="0"/>
              </a:rPr>
              <a:t>1. </a:t>
            </a:r>
            <a:r>
              <a:rPr lang="en-IN" sz="1600" b="1" dirty="0">
                <a:latin typeface="Candara" panose="020E0502030303020204" pitchFamily="34" charset="0"/>
              </a:rPr>
              <a:t>User Uploads Images</a:t>
            </a:r>
            <a:endParaRPr lang="en-IN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Template (Golden PCB)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Test (Defective PCB)</a:t>
            </a:r>
          </a:p>
          <a:p>
            <a:r>
              <a:rPr lang="en-IN" sz="1600" dirty="0">
                <a:latin typeface="Candara" panose="020E0502030303020204" pitchFamily="34" charset="0"/>
              </a:rPr>
              <a:t>2. </a:t>
            </a:r>
            <a:r>
              <a:rPr lang="en-IN" sz="1600" b="1" dirty="0">
                <a:latin typeface="Candara" panose="020E0502030303020204" pitchFamily="34" charset="0"/>
              </a:rPr>
              <a:t>Image Subtraction</a:t>
            </a:r>
            <a:endParaRPr lang="en-IN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Compute absolute difference</a:t>
            </a:r>
          </a:p>
          <a:p>
            <a:pPr>
              <a:buNone/>
            </a:pPr>
            <a:r>
              <a:rPr lang="en-IN" sz="1600" dirty="0">
                <a:latin typeface="Candara" panose="020E0502030303020204" pitchFamily="34" charset="0"/>
              </a:rPr>
              <a:t>3. </a:t>
            </a:r>
            <a:r>
              <a:rPr lang="en-IN" sz="1600" b="1" dirty="0">
                <a:latin typeface="Candara" panose="020E0502030303020204" pitchFamily="34" charset="0"/>
              </a:rPr>
              <a:t>Mask Generation</a:t>
            </a:r>
            <a:endParaRPr lang="en-IN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CLAHE enhancement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Adaptive thresholding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Morphological filtering</a:t>
            </a:r>
          </a:p>
          <a:p>
            <a:pPr>
              <a:buNone/>
            </a:pPr>
            <a:r>
              <a:rPr lang="en-IN" sz="1600" dirty="0">
                <a:latin typeface="Candara" panose="020E0502030303020204" pitchFamily="34" charset="0"/>
              </a:rPr>
              <a:t>4. </a:t>
            </a:r>
            <a:r>
              <a:rPr lang="en-IN" sz="1600" b="1" dirty="0">
                <a:latin typeface="Candara" panose="020E0502030303020204" pitchFamily="34" charset="0"/>
              </a:rPr>
              <a:t>Contour Detection</a:t>
            </a:r>
            <a:endParaRPr lang="en-IN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Identify defect boundaries</a:t>
            </a:r>
          </a:p>
          <a:p>
            <a:pPr>
              <a:buNone/>
            </a:pPr>
            <a:r>
              <a:rPr lang="en-IN" sz="1600" dirty="0">
                <a:latin typeface="Candara" panose="020E0502030303020204" pitchFamily="34" charset="0"/>
              </a:rPr>
              <a:t>5. </a:t>
            </a:r>
            <a:r>
              <a:rPr lang="en-IN" sz="1600" b="1" dirty="0">
                <a:latin typeface="Candara" panose="020E0502030303020204" pitchFamily="34" charset="0"/>
              </a:rPr>
              <a:t>ROI Extraction</a:t>
            </a:r>
            <a:endParaRPr lang="en-IN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Crop defect regions with padding</a:t>
            </a:r>
          </a:p>
          <a:p>
            <a:pPr>
              <a:buNone/>
            </a:pPr>
            <a:r>
              <a:rPr lang="en-IN" sz="1600" dirty="0">
                <a:latin typeface="Candara" panose="020E0502030303020204" pitchFamily="34" charset="0"/>
              </a:rPr>
              <a:t>6. </a:t>
            </a:r>
            <a:r>
              <a:rPr lang="en-IN" sz="1600" b="1" dirty="0">
                <a:latin typeface="Candara" panose="020E0502030303020204" pitchFamily="34" charset="0"/>
              </a:rPr>
              <a:t>CNN Classification</a:t>
            </a:r>
            <a:endParaRPr lang="en-IN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EfficientNet predicts defect class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C4D71-4600-8060-0B57-362DBB5F0666}"/>
              </a:ext>
            </a:extLst>
          </p:cNvPr>
          <p:cNvSpPr txBox="1"/>
          <p:nvPr/>
        </p:nvSpPr>
        <p:spPr>
          <a:xfrm>
            <a:off x="5471532" y="1548513"/>
            <a:ext cx="36724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latin typeface="Candara" panose="020E0502030303020204" pitchFamily="34" charset="0"/>
              </a:rPr>
              <a:t>7. </a:t>
            </a:r>
            <a:r>
              <a:rPr lang="en-IN" sz="1600" b="1" dirty="0">
                <a:latin typeface="Candara" panose="020E0502030303020204" pitchFamily="34" charset="0"/>
              </a:rPr>
              <a:t>Annotated Output</a:t>
            </a:r>
            <a:endParaRPr lang="en-IN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Bounding boxes + labels displayed in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andara" panose="020E0502030303020204" pitchFamily="34" charset="0"/>
              </a:rPr>
              <a:t>Exportable image and CSV log</a:t>
            </a:r>
          </a:p>
          <a:p>
            <a:pPr>
              <a:buNone/>
            </a:pPr>
            <a:br>
              <a:rPr lang="en-IN" sz="1600" dirty="0">
                <a:latin typeface="Candara" panose="020E0502030303020204" pitchFamily="34" charset="0"/>
              </a:rPr>
            </a:br>
            <a:endParaRPr lang="en-IN" sz="1600" dirty="0">
              <a:latin typeface="Candara" panose="020E0502030303020204" pitchFamily="34" charset="0"/>
            </a:endParaRPr>
          </a:p>
          <a:p>
            <a:pPr>
              <a:buNone/>
            </a:pPr>
            <a:r>
              <a:rPr lang="en-IN" sz="1600" b="1" dirty="0">
                <a:latin typeface="Candara" panose="020E0502030303020204" pitchFamily="34" charset="0"/>
              </a:rPr>
              <a:t>📌 Final Pipeline</a:t>
            </a:r>
          </a:p>
          <a:p>
            <a:pPr>
              <a:buNone/>
            </a:pPr>
            <a:r>
              <a:rPr lang="en-IN" sz="1600" dirty="0">
                <a:latin typeface="Candara" panose="020E0502030303020204" pitchFamily="34" charset="0"/>
              </a:rPr>
              <a:t>Upload → Subtraction → Mask → Contours → ROI → EfficientNet → Annotated Result</a:t>
            </a:r>
          </a:p>
        </p:txBody>
      </p:sp>
    </p:spTree>
    <p:extLst>
      <p:ext uri="{BB962C8B-B14F-4D97-AF65-F5344CB8AC3E}">
        <p14:creationId xmlns:p14="http://schemas.microsoft.com/office/powerpoint/2010/main" val="1003794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759A4-3336-218B-8E11-15EA27AD0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259" y="511932"/>
            <a:ext cx="7704000" cy="572700"/>
          </a:xfrm>
        </p:spPr>
        <p:txBody>
          <a:bodyPr/>
          <a:lstStyle/>
          <a:p>
            <a:r>
              <a:rPr lang="en-IN" sz="3200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774650-686A-E5F8-79C7-FADEE74A34F3}"/>
              </a:ext>
            </a:extLst>
          </p:cNvPr>
          <p:cNvSpPr txBox="1"/>
          <p:nvPr/>
        </p:nvSpPr>
        <p:spPr>
          <a:xfrm>
            <a:off x="2189355" y="1262391"/>
            <a:ext cx="655606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Developed an </a:t>
            </a:r>
            <a:r>
              <a:rPr lang="en-US" sz="1600" b="1" dirty="0">
                <a:latin typeface="Candara" panose="020E0502030303020204" pitchFamily="34" charset="0"/>
              </a:rPr>
              <a:t>automated PCB defect detection system</a:t>
            </a:r>
            <a:endParaRPr lang="en-US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Implemented </a:t>
            </a:r>
            <a:r>
              <a:rPr lang="en-US" sz="1600" b="1" dirty="0">
                <a:latin typeface="Candara" panose="020E0502030303020204" pitchFamily="34" charset="0"/>
              </a:rPr>
              <a:t>image subtraction &amp; contour-based ROI extraction</a:t>
            </a:r>
            <a:endParaRPr lang="en-US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Trained </a:t>
            </a:r>
            <a:r>
              <a:rPr lang="en-US" sz="1600" b="1" dirty="0">
                <a:latin typeface="Candara" panose="020E0502030303020204" pitchFamily="34" charset="0"/>
              </a:rPr>
              <a:t>EfficientNet-B0</a:t>
            </a:r>
            <a:r>
              <a:rPr lang="en-US" sz="1600" dirty="0">
                <a:latin typeface="Candara" panose="020E0502030303020204" pitchFamily="34" charset="0"/>
              </a:rPr>
              <a:t> using transfer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Achieved </a:t>
            </a:r>
            <a:r>
              <a:rPr lang="en-US" sz="1600" b="1" dirty="0">
                <a:latin typeface="Candara" panose="020E0502030303020204" pitchFamily="34" charset="0"/>
              </a:rPr>
              <a:t>~99% classification accuracy</a:t>
            </a:r>
            <a:endParaRPr lang="en-US" sz="160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Built a </a:t>
            </a:r>
            <a:r>
              <a:rPr lang="en-US" sz="1600" b="1" dirty="0">
                <a:latin typeface="Candara" panose="020E0502030303020204" pitchFamily="34" charset="0"/>
              </a:rPr>
              <a:t>Streamlit web application</a:t>
            </a:r>
            <a:r>
              <a:rPr lang="en-US" sz="1600" dirty="0">
                <a:latin typeface="Candara" panose="020E0502030303020204" pitchFamily="34" charset="0"/>
              </a:rPr>
              <a:t> for real-time inference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Integrated backend pipeline with exportable results</a:t>
            </a:r>
          </a:p>
          <a:p>
            <a:pPr>
              <a:buNone/>
            </a:pPr>
            <a:r>
              <a:rPr lang="en-US" sz="1800" b="1" dirty="0">
                <a:latin typeface="Candara" panose="020E0502030303020204" pitchFamily="34" charset="0"/>
              </a:rPr>
              <a:t>Key Achievements:</a:t>
            </a:r>
          </a:p>
          <a:p>
            <a:pPr>
              <a:buNone/>
            </a:pPr>
            <a:r>
              <a:rPr lang="en-US" sz="1600" dirty="0">
                <a:latin typeface="Candara" panose="020E0502030303020204" pitchFamily="34" charset="0"/>
              </a:rPr>
              <a:t>✔ End-to-end working system</a:t>
            </a:r>
            <a:br>
              <a:rPr lang="en-US" sz="1600" dirty="0">
                <a:latin typeface="Candara" panose="020E0502030303020204" pitchFamily="34" charset="0"/>
              </a:rPr>
            </a:br>
            <a:r>
              <a:rPr lang="en-US" sz="1600" dirty="0">
                <a:latin typeface="Candara" panose="020E0502030303020204" pitchFamily="34" charset="0"/>
              </a:rPr>
              <a:t>✔ High model accuracy and stability</a:t>
            </a:r>
            <a:br>
              <a:rPr lang="en-US" sz="1600" dirty="0">
                <a:latin typeface="Candara" panose="020E0502030303020204" pitchFamily="34" charset="0"/>
              </a:rPr>
            </a:br>
            <a:r>
              <a:rPr lang="en-US" sz="1600" dirty="0">
                <a:latin typeface="Candara" panose="020E0502030303020204" pitchFamily="34" charset="0"/>
              </a:rPr>
              <a:t>✔ Real-time UI with annotated outputs</a:t>
            </a:r>
            <a:br>
              <a:rPr lang="en-US" sz="1600" dirty="0">
                <a:latin typeface="Candara" panose="020E0502030303020204" pitchFamily="34" charset="0"/>
              </a:rPr>
            </a:br>
            <a:r>
              <a:rPr lang="en-US" sz="1600" dirty="0">
                <a:latin typeface="Candara" panose="020E0502030303020204" pitchFamily="34" charset="0"/>
              </a:rPr>
              <a:t>✔ Professional GitHub repository structure</a:t>
            </a:r>
          </a:p>
          <a:p>
            <a:pPr>
              <a:buNone/>
            </a:pPr>
            <a:r>
              <a:rPr lang="en-US" sz="1800" b="1" dirty="0">
                <a:latin typeface="Candara" panose="020E0502030303020204" pitchFamily="34" charset="0"/>
              </a:rPr>
              <a:t>💡 Final Statement:</a:t>
            </a:r>
          </a:p>
          <a:p>
            <a:pPr>
              <a:buNone/>
            </a:pPr>
            <a:r>
              <a:rPr lang="en-US" sz="1600" dirty="0">
                <a:latin typeface="Candara" panose="020E0502030303020204" pitchFamily="34" charset="0"/>
              </a:rPr>
              <a:t>This project demonstrates a complete integration of </a:t>
            </a:r>
            <a:r>
              <a:rPr lang="en-US" sz="1600" b="1" dirty="0">
                <a:latin typeface="Candara" panose="020E0502030303020204" pitchFamily="34" charset="0"/>
              </a:rPr>
              <a:t>Computer Vision, Deep Learning, and Web Deployment</a:t>
            </a:r>
            <a:r>
              <a:rPr lang="en-US" sz="1600" dirty="0">
                <a:latin typeface="Candara" panose="020E0502030303020204" pitchFamily="34" charset="0"/>
              </a:rPr>
              <a:t> for automated PCB inspection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7782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Thank</a:t>
            </a:r>
            <a:br>
              <a:rPr lang="en-IN" dirty="0"/>
            </a:br>
            <a:r>
              <a:rPr lang="en-IN" dirty="0"/>
              <a:t>you!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Thesis Defense by Slidesgo">
  <a:themeElements>
    <a:clrScheme name="Simple Light">
      <a:dk1>
        <a:srgbClr val="191919"/>
      </a:dk1>
      <a:lt1>
        <a:srgbClr val="FFFFFF"/>
      </a:lt1>
      <a:dk2>
        <a:srgbClr val="595959"/>
      </a:dk2>
      <a:lt2>
        <a:srgbClr val="EEEEEE"/>
      </a:lt2>
      <a:accent1>
        <a:srgbClr val="ACDFF3"/>
      </a:accent1>
      <a:accent2>
        <a:srgbClr val="274075"/>
      </a:accent2>
      <a:accent3>
        <a:srgbClr val="D4F2FD"/>
      </a:accent3>
      <a:accent4>
        <a:srgbClr val="FFFFFF"/>
      </a:accent4>
      <a:accent5>
        <a:srgbClr val="ACDFF3"/>
      </a:accent5>
      <a:accent6>
        <a:srgbClr val="274075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1031</Words>
  <Application>Microsoft Office PowerPoint</Application>
  <PresentationFormat>On-screen Show (16:9)</PresentationFormat>
  <Paragraphs>190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Cambria Math</vt:lpstr>
      <vt:lpstr>Candara</vt:lpstr>
      <vt:lpstr>Paytone One</vt:lpstr>
      <vt:lpstr>Questrial</vt:lpstr>
      <vt:lpstr>Arial</vt:lpstr>
      <vt:lpstr>Minimalist Thesis Defense by Slidesgo</vt:lpstr>
      <vt:lpstr>Project Title: PCB Defect Detection System</vt:lpstr>
      <vt:lpstr>Introduction and Project Overview</vt:lpstr>
      <vt:lpstr>  Dataset Description and Preparation</vt:lpstr>
      <vt:lpstr>Data Preprocessing Techniques</vt:lpstr>
      <vt:lpstr>Exploratory Data Analysis and Visualization</vt:lpstr>
      <vt:lpstr>Model Architecture and Design</vt:lpstr>
      <vt:lpstr>Experimental Setup and Training Details</vt:lpstr>
      <vt:lpstr>Challenges and Limitations</vt:lpstr>
      <vt:lpstr>Future Work and Scope</vt:lpstr>
      <vt:lpstr>Feature Engineering</vt:lpstr>
      <vt:lpstr>Methodology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deepali singh</dc:creator>
  <cp:lastModifiedBy>deepali singh</cp:lastModifiedBy>
  <cp:revision>1</cp:revision>
  <dcterms:modified xsi:type="dcterms:W3CDTF">2026-03-04T00:38:06Z</dcterms:modified>
</cp:coreProperties>
</file>